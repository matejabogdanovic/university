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5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5" r:id="rId9"/>
    <p:sldId id="263" r:id="rId10"/>
    <p:sldId id="264" r:id="rId11"/>
    <p:sldId id="266" r:id="rId12"/>
    <p:sldId id="267" r:id="rId13"/>
    <p:sldId id="269" r:id="rId14"/>
    <p:sldId id="268" r:id="rId15"/>
    <p:sldId id="270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907" autoAdjust="0"/>
  </p:normalViewPr>
  <p:slideViewPr>
    <p:cSldViewPr snapToGrid="0">
      <p:cViewPr varScale="1">
        <p:scale>
          <a:sx n="103" d="100"/>
          <a:sy n="103" d="100"/>
        </p:scale>
        <p:origin x="828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2D97EF-130B-42E0-9B98-4D244BF14443}" type="datetimeFigureOut">
              <a:rPr lang="en-US" smtClean="0"/>
              <a:t>7/26/2025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951782-EC33-442E-B182-33B1939D210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4066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6CF5D-F655-440A-BE65-76D6779DA5FA}" type="datetimeFigureOut">
              <a:rPr lang="en-US" smtClean="0"/>
              <a:t>7/26/2025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F9F61-4C28-4726-866D-D0CC9F660A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693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189" indent="0" algn="ctr">
              <a:buNone/>
              <a:defRPr sz="2200"/>
            </a:lvl2pPr>
            <a:lvl3pPr marL="914377" indent="0" algn="ctr">
              <a:buNone/>
              <a:defRPr sz="2200"/>
            </a:lvl3pPr>
            <a:lvl4pPr marL="1371566" indent="0" algn="ctr">
              <a:buNone/>
              <a:defRPr sz="2000"/>
            </a:lvl4pPr>
            <a:lvl5pPr marL="1828754" indent="0" algn="ctr">
              <a:buNone/>
              <a:defRPr sz="2000"/>
            </a:lvl5pPr>
            <a:lvl6pPr marL="2285943" indent="0" algn="ctr">
              <a:buNone/>
              <a:defRPr sz="2000"/>
            </a:lvl6pPr>
            <a:lvl7pPr marL="2743131" indent="0" algn="ctr">
              <a:buNone/>
              <a:defRPr sz="2000"/>
            </a:lvl7pPr>
            <a:lvl8pPr marL="3200320" indent="0" algn="ctr">
              <a:buNone/>
              <a:defRPr sz="2000"/>
            </a:lvl8pPr>
            <a:lvl9pPr marL="3657509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CA992A70-0495-4565-A6DB-B874848B3D22}" type="datetime1">
              <a:rPr lang="en-US" smtClean="0"/>
              <a:t>7/26/2025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516B7588-0C4F-49E0-B1AB-2BC6867C93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416830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457189" indent="-182875">
              <a:buFont typeface="Wingdings" panose="05000000000000000000" pitchFamily="2" charset="2"/>
              <a:buChar char="Ø"/>
              <a:defRPr/>
            </a:lvl2pPr>
            <a:lvl3pPr marL="731502" indent="-182875">
              <a:buFont typeface="Wingdings" panose="05000000000000000000" pitchFamily="2" charset="2"/>
              <a:buChar char="Ø"/>
              <a:defRPr/>
            </a:lvl3pPr>
            <a:lvl4pPr marL="1005815" indent="-182875">
              <a:buFont typeface="Wingdings" panose="05000000000000000000" pitchFamily="2" charset="2"/>
              <a:buChar char="Ø"/>
              <a:defRPr/>
            </a:lvl4pPr>
            <a:lvl5pPr marL="1280128" indent="-182875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280A0-C88D-4BB7-93A6-6B5821787001}" type="datetime1">
              <a:rPr lang="en-US" smtClean="0"/>
              <a:t>7/26/2025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3D39-FACF-43C7-9C4E-3C002A13A54D}" type="slidenum">
              <a:rPr lang="en-US" smtClean="0"/>
              <a:pPr/>
              <a:t>‹#›</a:t>
            </a:fld>
            <a:r>
              <a:rPr lang="en-US" smtClean="0"/>
              <a:t>/17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1003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F1823-93C8-4CD8-AFDB-96A5F28229EE}" type="datetime1">
              <a:rPr lang="en-US" smtClean="0"/>
              <a:t>7/26/2025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7D454-9F4F-4B3E-9E94-B0A69F152E47}" type="slidenum">
              <a:rPr lang="en-US" smtClean="0"/>
              <a:pPr/>
              <a:t>‹#›</a:t>
            </a:fld>
            <a:r>
              <a:rPr lang="en-US" smtClean="0"/>
              <a:t>/17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365302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2"/>
            <a:ext cx="4480560" cy="4351337"/>
          </a:xfrm>
        </p:spPr>
        <p:txBody>
          <a:bodyPr/>
          <a:lstStyle>
            <a:lvl1pPr>
              <a:defRPr sz="1800"/>
            </a:lvl1pPr>
            <a:lvl2pPr marL="457189" indent="-182875">
              <a:buFont typeface="Wingdings" panose="05000000000000000000" pitchFamily="2" charset="2"/>
              <a:buChar char="Ø"/>
              <a:defRPr sz="1600"/>
            </a:lvl2pPr>
            <a:lvl3pPr marL="731502" indent="-182875">
              <a:buFont typeface="Wingdings" panose="05000000000000000000" pitchFamily="2" charset="2"/>
              <a:buChar char="Ø"/>
              <a:defRPr sz="1400"/>
            </a:lvl3pPr>
            <a:lvl4pPr marL="1005815" indent="-182875">
              <a:buFont typeface="Wingdings" panose="05000000000000000000" pitchFamily="2" charset="2"/>
              <a:buChar char="Ø"/>
              <a:defRPr sz="1400"/>
            </a:lvl4pPr>
            <a:lvl5pPr marL="1280128" indent="-182875">
              <a:buFont typeface="Wingdings" panose="05000000000000000000" pitchFamily="2" charset="2"/>
              <a:buChar char="Ø"/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2"/>
            <a:ext cx="4480560" cy="4351337"/>
          </a:xfrm>
        </p:spPr>
        <p:txBody>
          <a:bodyPr/>
          <a:lstStyle>
            <a:lvl1pPr>
              <a:defRPr sz="1800"/>
            </a:lvl1pPr>
            <a:lvl2pPr marL="457189" indent="-182875">
              <a:buFont typeface="Wingdings" panose="05000000000000000000" pitchFamily="2" charset="2"/>
              <a:buChar char="Ø"/>
              <a:defRPr sz="1600"/>
            </a:lvl2pPr>
            <a:lvl3pPr marL="731502" indent="-182875">
              <a:buFont typeface="Wingdings" panose="05000000000000000000" pitchFamily="2" charset="2"/>
              <a:buChar char="Ø"/>
              <a:defRPr sz="1400"/>
            </a:lvl3pPr>
            <a:lvl4pPr marL="1005815" indent="-182875">
              <a:buFont typeface="Wingdings" panose="05000000000000000000" pitchFamily="2" charset="2"/>
              <a:buChar char="Ø"/>
              <a:defRPr sz="1400"/>
            </a:lvl4pPr>
            <a:lvl5pPr marL="1280128" indent="-182875">
              <a:buFont typeface="Wingdings" panose="05000000000000000000" pitchFamily="2" charset="2"/>
              <a:buChar char="Ø"/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F891-2FDB-40A1-AC14-E93AE7DB3A9C}" type="datetime1">
              <a:rPr lang="en-US" smtClean="0"/>
              <a:t>7/26/2025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B7588-0C4F-49E0-B1AB-2BC6867C93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4688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 marL="457189" indent="-182875">
              <a:buFont typeface="Wingdings" panose="05000000000000000000" pitchFamily="2" charset="2"/>
              <a:buChar char="Ø"/>
              <a:defRPr sz="1600"/>
            </a:lvl2pPr>
            <a:lvl3pPr marL="731502" indent="-182875">
              <a:buFont typeface="Wingdings" panose="05000000000000000000" pitchFamily="2" charset="2"/>
              <a:buChar char="Ø"/>
              <a:defRPr sz="1400"/>
            </a:lvl3pPr>
            <a:lvl4pPr marL="1005815" indent="-182875">
              <a:buFont typeface="Wingdings" panose="05000000000000000000" pitchFamily="2" charset="2"/>
              <a:buChar char="Ø"/>
              <a:defRPr sz="1400"/>
            </a:lvl4pPr>
            <a:lvl5pPr marL="1280128" indent="-182875">
              <a:buFont typeface="Wingdings" panose="05000000000000000000" pitchFamily="2" charset="2"/>
              <a:buChar char="Ø"/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 marL="457189" indent="-182875">
              <a:buFont typeface="Wingdings" panose="05000000000000000000" pitchFamily="2" charset="2"/>
              <a:buChar char="Ø"/>
              <a:defRPr sz="1600"/>
            </a:lvl2pPr>
            <a:lvl3pPr marL="731502" indent="-182875">
              <a:buFont typeface="Wingdings" panose="05000000000000000000" pitchFamily="2" charset="2"/>
              <a:buChar char="Ø"/>
              <a:defRPr sz="1400"/>
            </a:lvl3pPr>
            <a:lvl4pPr marL="1005815" indent="-182875">
              <a:buFont typeface="Wingdings" panose="05000000000000000000" pitchFamily="2" charset="2"/>
              <a:buChar char="Ø"/>
              <a:defRPr sz="1400"/>
            </a:lvl4pPr>
            <a:lvl5pPr marL="1280128" indent="-182875">
              <a:buFont typeface="Wingdings" panose="05000000000000000000" pitchFamily="2" charset="2"/>
              <a:buChar char="Ø"/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E863-7ABD-42A2-A07C-84399F3DD86D}" type="datetime1">
              <a:rPr lang="en-US" smtClean="0"/>
              <a:t>7/26/2025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B7588-0C4F-49E0-B1AB-2BC6867C93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569174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9BD51-D857-45E4-9A4C-E67441BA17EB}" type="datetime1">
              <a:rPr lang="en-US" smtClean="0"/>
              <a:t>7/26/2025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B7588-0C4F-49E0-B1AB-2BC6867C93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55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ABAC2-8B7B-47B4-B9CC-B57AD690121B}" type="datetime1">
              <a:rPr lang="en-US" smtClean="0"/>
              <a:t>7/26/2025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B7588-0C4F-49E0-B1AB-2BC6867C93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116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2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7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6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2BDF8-A84E-4F85-8F71-B0B174481437}" type="datetime1">
              <a:rPr lang="en-US" smtClean="0"/>
              <a:t>7/26/2025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B7588-0C4F-49E0-B1AB-2BC6867C93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833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2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91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9023-97AE-4D74-8CCC-C7277C040851}" type="datetime1">
              <a:rPr lang="en-US" smtClean="0"/>
              <a:t>7/26/2025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B7588-0C4F-49E0-B1AB-2BC6867C93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45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DCCA6-14D2-42B1-A93D-8648F47F5231}" type="datetime1">
              <a:rPr lang="en-US" smtClean="0"/>
              <a:t>7/26/2025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B7588-0C4F-49E0-B1AB-2BC6867C93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279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1" y="381000"/>
            <a:ext cx="24765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1" y="381000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5071B-74B2-4761-AB72-0EF409C7D494}" type="datetime1">
              <a:rPr lang="en-US" smtClean="0"/>
              <a:t>7/26/2025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B7588-0C4F-49E0-B1AB-2BC6867C93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5911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342883" indent="-137153">
              <a:buFont typeface="Wingdings" panose="05000000000000000000" pitchFamily="2" charset="2"/>
              <a:buChar char="Ø"/>
              <a:defRPr/>
            </a:lvl2pPr>
            <a:lvl3pPr marL="548613" indent="-137153">
              <a:buFont typeface="Wingdings" panose="05000000000000000000" pitchFamily="2" charset="2"/>
              <a:buChar char="Ø"/>
              <a:defRPr/>
            </a:lvl3pPr>
            <a:lvl4pPr marL="754342" indent="-137153">
              <a:buFont typeface="Wingdings" panose="05000000000000000000" pitchFamily="2" charset="2"/>
              <a:buChar char="Ø"/>
              <a:defRPr/>
            </a:lvl4pPr>
            <a:lvl5pPr marL="960072" indent="-137153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09805-5BAE-4231-913A-7CDC83C02E89}" type="datetime1">
              <a:rPr lang="en-US" smtClean="0"/>
              <a:t>7/26/2025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F83D39-FACF-43C7-9C4E-3C002A13A54D}" type="slidenum">
              <a:rPr lang="en-US" smtClean="0"/>
              <a:pPr/>
              <a:t>‹#›</a:t>
            </a:fld>
            <a:r>
              <a:rPr lang="en-US" dirty="0" smtClean="0"/>
              <a:t>/1</a:t>
            </a:r>
            <a:r>
              <a:rPr lang="sr-Latn-RS" dirty="0" smtClean="0"/>
              <a:t>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9259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2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3" y="998538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1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8324E863-7ABD-42A2-A07C-84399F3DD86D}" type="datetime1">
              <a:rPr lang="en-US" smtClean="0"/>
              <a:t>7/26/2025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8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1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2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516B7588-0C4F-49E0-B1AB-2BC6867C93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128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62" r:id="rId12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 spc="-51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75" indent="-182875" algn="l" defTabSz="914377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1" baseline="0">
          <a:solidFill>
            <a:schemeClr val="tx1"/>
          </a:solidFill>
          <a:latin typeface="+mn-lt"/>
          <a:ea typeface="+mn-ea"/>
          <a:cs typeface="+mn-cs"/>
        </a:defRPr>
      </a:lvl1pPr>
      <a:lvl2pPr marL="457189" indent="-182875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02" indent="-182875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15" indent="-182875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28" indent="-182875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599960" indent="-228594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899953" indent="-228594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199945" indent="-228594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499938" indent="-228594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Fajl</a:t>
            </a:r>
            <a:r>
              <a:rPr lang="en-US" dirty="0" smtClean="0"/>
              <a:t> </a:t>
            </a:r>
            <a:r>
              <a:rPr lang="en-US" dirty="0" err="1" smtClean="0"/>
              <a:t>sistemi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operativnom</a:t>
            </a:r>
            <a:r>
              <a:rPr lang="en-US" dirty="0" smtClean="0"/>
              <a:t> </a:t>
            </a:r>
            <a:r>
              <a:rPr lang="en-US" dirty="0" err="1" smtClean="0"/>
              <a:t>sistemu</a:t>
            </a:r>
            <a:r>
              <a:rPr lang="en-US" dirty="0" smtClean="0"/>
              <a:t> Windows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Predmet</a:t>
            </a:r>
            <a:r>
              <a:rPr lang="en-US" dirty="0" smtClean="0"/>
              <a:t>: </a:t>
            </a:r>
            <a:r>
              <a:rPr lang="en-US" dirty="0" err="1" smtClean="0"/>
              <a:t>Praktikum</a:t>
            </a:r>
            <a:r>
              <a:rPr lang="en-US" dirty="0" smtClean="0"/>
              <a:t> </a:t>
            </a:r>
            <a:r>
              <a:rPr lang="en-US" dirty="0" err="1" smtClean="0"/>
              <a:t>iz</a:t>
            </a:r>
            <a:r>
              <a:rPr lang="en-US" dirty="0" smtClean="0"/>
              <a:t> </a:t>
            </a:r>
            <a:r>
              <a:rPr lang="en-US" dirty="0" err="1" smtClean="0"/>
              <a:t>poslovne</a:t>
            </a:r>
            <a:r>
              <a:rPr lang="en-US" dirty="0" smtClean="0"/>
              <a:t> </a:t>
            </a:r>
            <a:r>
              <a:rPr lang="en-US" dirty="0" err="1" smtClean="0"/>
              <a:t>komunikacije</a:t>
            </a:r>
            <a:r>
              <a:rPr lang="en-US" dirty="0" smtClean="0"/>
              <a:t> I </a:t>
            </a:r>
            <a:r>
              <a:rPr lang="en-US" dirty="0" err="1" smtClean="0"/>
              <a:t>prezentacije</a:t>
            </a:r>
            <a:endParaRPr lang="en-US" dirty="0" smtClean="0"/>
          </a:p>
          <a:p>
            <a:r>
              <a:rPr lang="en-US" dirty="0" smtClean="0"/>
              <a:t>Student: Mateja </a:t>
            </a:r>
            <a:r>
              <a:rPr lang="en-US" dirty="0" err="1" smtClean="0"/>
              <a:t>Bogdanovi</a:t>
            </a:r>
            <a:r>
              <a:rPr lang="sr-Latn-RS" dirty="0" smtClean="0"/>
              <a:t>ć </a:t>
            </a:r>
            <a:r>
              <a:rPr lang="en-US" dirty="0" smtClean="0"/>
              <a:t>2022/</a:t>
            </a:r>
            <a:r>
              <a:rPr lang="sr-Latn-RS" dirty="0" smtClean="0"/>
              <a:t>0511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266" y="971553"/>
            <a:ext cx="970919" cy="11339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70408" y="1376930"/>
            <a:ext cx="7219569" cy="346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1651" dirty="0">
                <a:solidFill>
                  <a:schemeClr val="tx1">
                    <a:lumMod val="75000"/>
                  </a:schemeClr>
                </a:solidFill>
                <a:latin typeface="Calibri (Body)"/>
              </a:rPr>
              <a:t>Univerzitet u Beogradu </a:t>
            </a:r>
            <a:r>
              <a:rPr lang="en-US" sz="1651" dirty="0">
                <a:solidFill>
                  <a:schemeClr val="tx1">
                    <a:lumMod val="75000"/>
                  </a:schemeClr>
                </a:solidFill>
                <a:latin typeface="Calibri (Body)"/>
              </a:rPr>
              <a:t>– </a:t>
            </a:r>
            <a:r>
              <a:rPr lang="en-US" sz="1651" dirty="0" err="1">
                <a:solidFill>
                  <a:schemeClr val="tx1">
                    <a:lumMod val="75000"/>
                  </a:schemeClr>
                </a:solidFill>
                <a:latin typeface="Calibri (Body)"/>
              </a:rPr>
              <a:t>Elektrotehni</a:t>
            </a:r>
            <a:r>
              <a:rPr lang="sr-Latn-RS" sz="1651" dirty="0">
                <a:solidFill>
                  <a:schemeClr val="tx1">
                    <a:lumMod val="75000"/>
                  </a:schemeClr>
                </a:solidFill>
                <a:latin typeface="Calibri (Body)"/>
              </a:rPr>
              <a:t>čki fakultet</a:t>
            </a:r>
            <a:endParaRPr lang="en-US" sz="1651" dirty="0">
              <a:solidFill>
                <a:schemeClr val="tx1">
                  <a:lumMod val="75000"/>
                </a:schemeClr>
              </a:solidFill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1010771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Sadr</a:t>
            </a:r>
            <a:r>
              <a:rPr lang="sr-Latn-RS" dirty="0" smtClean="0"/>
              <a:t>žaj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sr-Latn-RS" dirty="0" smtClean="0"/>
              <a:t>Uvod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 smtClean="0"/>
              <a:t>Šta je operativni s</a:t>
            </a:r>
            <a:r>
              <a:rPr lang="en-US" dirty="0" err="1" smtClean="0"/>
              <a:t>i</a:t>
            </a:r>
            <a:r>
              <a:rPr lang="sr-Latn-RS" dirty="0" smtClean="0"/>
              <a:t>stem</a:t>
            </a:r>
            <a:r>
              <a:rPr lang="en-US" dirty="0" smtClean="0"/>
              <a:t>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 smtClean="0"/>
              <a:t>Šta je fajl</a:t>
            </a:r>
            <a:r>
              <a:rPr lang="en-US" dirty="0" smtClean="0"/>
              <a:t>?</a:t>
            </a:r>
            <a:endParaRPr lang="sr-Latn-RS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/>
              <a:t>Šta je direktorijum i FCB</a:t>
            </a:r>
            <a:r>
              <a:rPr lang="en-US" dirty="0"/>
              <a:t>?</a:t>
            </a:r>
            <a:endParaRPr lang="sr-Latn-RS" dirty="0" smtClean="0"/>
          </a:p>
          <a:p>
            <a:r>
              <a:rPr lang="sr-Latn-RS" dirty="0" smtClean="0"/>
              <a:t>Šta je fajl s</a:t>
            </a:r>
            <a:r>
              <a:rPr lang="en-US" dirty="0" err="1" smtClean="0"/>
              <a:t>i</a:t>
            </a:r>
            <a:r>
              <a:rPr lang="sr-Latn-RS" dirty="0" smtClean="0"/>
              <a:t>stem</a:t>
            </a:r>
            <a:r>
              <a:rPr lang="en-US" dirty="0" smtClean="0"/>
              <a:t>?</a:t>
            </a:r>
            <a:endParaRPr lang="sr-Latn-RS" dirty="0" smtClean="0"/>
          </a:p>
          <a:p>
            <a:r>
              <a:rPr lang="en-US" dirty="0" err="1" smtClean="0"/>
              <a:t>Istorija</a:t>
            </a:r>
            <a:r>
              <a:rPr lang="en-US" dirty="0" smtClean="0"/>
              <a:t> </a:t>
            </a:r>
            <a:r>
              <a:rPr lang="en-US" dirty="0" err="1"/>
              <a:t>fajl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 smtClean="0"/>
              <a:t>Windowsu</a:t>
            </a:r>
            <a:endParaRPr lang="sr-Latn-RS" dirty="0" smtClean="0"/>
          </a:p>
          <a:p>
            <a:r>
              <a:rPr lang="sr-Latn-RS" dirty="0" smtClean="0"/>
              <a:t>Metode alokacije fajla</a:t>
            </a:r>
          </a:p>
          <a:p>
            <a:r>
              <a:rPr lang="sr-Latn-RS" dirty="0" smtClean="0"/>
              <a:t>FAT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 smtClean="0"/>
              <a:t>Struktura FAT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 smtClean="0"/>
              <a:t>FAT 12, 16, 32</a:t>
            </a:r>
          </a:p>
          <a:p>
            <a:r>
              <a:rPr lang="sr-Latn-RS" dirty="0" smtClean="0"/>
              <a:t>exFAT</a:t>
            </a:r>
          </a:p>
          <a:p>
            <a:r>
              <a:rPr lang="sr-Latn-RS" dirty="0" smtClean="0"/>
              <a:t>NTFS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 smtClean="0"/>
              <a:t>Struktura NTFS</a:t>
            </a:r>
          </a:p>
          <a:p>
            <a:r>
              <a:rPr lang="sr-Latn-RS" dirty="0" smtClean="0"/>
              <a:t>Rekapitulacija</a:t>
            </a:r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49F83D39-FACF-43C7-9C4E-3C002A13A54D}" type="slidenum">
              <a:rPr lang="en-US" smtClean="0"/>
              <a:pPr/>
              <a:t>2</a:t>
            </a:fld>
            <a:r>
              <a:rPr lang="en-US" smtClean="0"/>
              <a:t>/17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734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Uvod</a:t>
            </a:r>
            <a:r>
              <a:rPr lang="en-US" dirty="0" smtClean="0"/>
              <a:t> - </a:t>
            </a:r>
            <a:r>
              <a:rPr lang="sr-Latn-RS" dirty="0" smtClean="0"/>
              <a:t>Šta je operativni s</a:t>
            </a:r>
            <a:r>
              <a:rPr lang="en-US" dirty="0" err="1" smtClean="0"/>
              <a:t>i</a:t>
            </a:r>
            <a:r>
              <a:rPr lang="sr-Latn-RS" dirty="0" smtClean="0"/>
              <a:t>stem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5732" y="1691322"/>
            <a:ext cx="6779343" cy="4351337"/>
          </a:xfrm>
        </p:spPr>
        <p:txBody>
          <a:bodyPr/>
          <a:lstStyle/>
          <a:p>
            <a:r>
              <a:rPr lang="en-US" b="1" dirty="0" err="1" smtClean="0"/>
              <a:t>Operativni</a:t>
            </a:r>
            <a:r>
              <a:rPr lang="en-US" b="1" dirty="0" smtClean="0"/>
              <a:t> </a:t>
            </a:r>
            <a:r>
              <a:rPr lang="en-US" b="1" dirty="0" err="1" smtClean="0"/>
              <a:t>sistem</a:t>
            </a:r>
            <a:endParaRPr lang="en-US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/>
              <a:t>program (</a:t>
            </a:r>
            <a:r>
              <a:rPr lang="en-US" dirty="0" err="1" smtClean="0"/>
              <a:t>softver</a:t>
            </a:r>
            <a:r>
              <a:rPr lang="en-US" dirty="0" smtClean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err="1" smtClean="0"/>
              <a:t>omogućava</a:t>
            </a:r>
            <a:r>
              <a:rPr lang="en-US" dirty="0" smtClean="0"/>
              <a:t> </a:t>
            </a:r>
            <a:r>
              <a:rPr lang="en-US" dirty="0" err="1" smtClean="0"/>
              <a:t>izvršavanje</a:t>
            </a:r>
            <a:r>
              <a:rPr lang="en-US" dirty="0" smtClean="0"/>
              <a:t> </a:t>
            </a:r>
            <a:r>
              <a:rPr lang="en-US" dirty="0" err="1" smtClean="0"/>
              <a:t>korisničkih</a:t>
            </a:r>
            <a:r>
              <a:rPr lang="en-US" dirty="0" smtClean="0"/>
              <a:t> </a:t>
            </a:r>
            <a:r>
              <a:rPr lang="en-US" dirty="0" err="1" smtClean="0"/>
              <a:t>programa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sr-Latn-RS" dirty="0" smtClean="0"/>
              <a:t>čunaru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err="1" smtClean="0"/>
              <a:t>posrednik</a:t>
            </a:r>
            <a:r>
              <a:rPr lang="en-US" dirty="0" smtClean="0"/>
              <a:t> </a:t>
            </a:r>
            <a:r>
              <a:rPr lang="en-US" dirty="0" err="1" smtClean="0"/>
              <a:t>između</a:t>
            </a:r>
            <a:r>
              <a:rPr lang="en-US" dirty="0" smtClean="0"/>
              <a:t> </a:t>
            </a:r>
            <a:r>
              <a:rPr lang="en-US" dirty="0" err="1" smtClean="0"/>
              <a:t>programa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hardvera</a:t>
            </a:r>
            <a:r>
              <a:rPr lang="en-US" dirty="0" smtClean="0"/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err="1" smtClean="0"/>
              <a:t>pruža</a:t>
            </a:r>
            <a:r>
              <a:rPr lang="en-US" dirty="0" smtClean="0"/>
              <a:t> </a:t>
            </a:r>
            <a:r>
              <a:rPr lang="en-US" dirty="0" err="1" smtClean="0"/>
              <a:t>usluge</a:t>
            </a:r>
            <a:r>
              <a:rPr lang="en-US" dirty="0" smtClean="0"/>
              <a:t> </a:t>
            </a:r>
            <a:r>
              <a:rPr lang="en-US" dirty="0" err="1" smtClean="0"/>
              <a:t>programima</a:t>
            </a:r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49F83D39-FACF-43C7-9C4E-3C002A13A54D}" type="slidenum">
              <a:rPr lang="en-US" smtClean="0"/>
              <a:pPr/>
              <a:t>3</a:t>
            </a:fld>
            <a:r>
              <a:rPr lang="en-US" smtClean="0"/>
              <a:t>/17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833981" y="5315984"/>
            <a:ext cx="5700713" cy="5500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 err="1">
                <a:latin typeface="Calibri (Body)"/>
              </a:rPr>
              <a:t>Hardver</a:t>
            </a:r>
            <a:endParaRPr lang="en-US" sz="1351" dirty="0">
              <a:latin typeface="Calibri (Body)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33981" y="4765915"/>
            <a:ext cx="5700713" cy="550069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 err="1">
                <a:latin typeface="Calibri (Body)"/>
              </a:rPr>
              <a:t>Operativni</a:t>
            </a:r>
            <a:r>
              <a:rPr lang="en-US" sz="1351" dirty="0">
                <a:latin typeface="Calibri (Body)"/>
              </a:rPr>
              <a:t> </a:t>
            </a:r>
            <a:r>
              <a:rPr lang="en-US" sz="1351" dirty="0" err="1">
                <a:latin typeface="Calibri (Body)"/>
              </a:rPr>
              <a:t>sistem</a:t>
            </a:r>
            <a:endParaRPr lang="en-US" sz="1351" dirty="0">
              <a:latin typeface="Calibri (Body)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833979" y="4199892"/>
            <a:ext cx="1666780" cy="55006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Program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67913" y="4199891"/>
            <a:ext cx="1666780" cy="55006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Program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28227" y="4199890"/>
            <a:ext cx="1666780" cy="55006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Program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3980" y="3641844"/>
            <a:ext cx="3661029" cy="55006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 err="1">
                <a:latin typeface="Calibri (Body)"/>
              </a:rPr>
              <a:t>Korisnik</a:t>
            </a:r>
            <a:endParaRPr lang="en-US" sz="1351" dirty="0">
              <a:latin typeface="Calibri (Body)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495007" y="3641844"/>
            <a:ext cx="2039684" cy="55006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 err="1">
                <a:latin typeface="Calibri (Body)"/>
              </a:rPr>
              <a:t>Korisnik</a:t>
            </a:r>
            <a:endParaRPr lang="en-US" sz="1351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3122802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Uvod</a:t>
            </a:r>
            <a:r>
              <a:rPr lang="en-US" dirty="0"/>
              <a:t> - </a:t>
            </a:r>
            <a:r>
              <a:rPr lang="sr-Latn-RS" dirty="0"/>
              <a:t>Šta je </a:t>
            </a:r>
            <a:r>
              <a:rPr lang="en-US" dirty="0" err="1" smtClean="0"/>
              <a:t>fajl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1691322"/>
            <a:ext cx="7269480" cy="4321239"/>
          </a:xfrm>
        </p:spPr>
        <p:txBody>
          <a:bodyPr>
            <a:normAutofit/>
          </a:bodyPr>
          <a:lstStyle/>
          <a:p>
            <a:r>
              <a:rPr lang="en-US" b="1" dirty="0" err="1" smtClean="0"/>
              <a:t>Fajl</a:t>
            </a:r>
            <a:r>
              <a:rPr lang="en-US" b="1" dirty="0"/>
              <a:t> </a:t>
            </a:r>
            <a:r>
              <a:rPr lang="en-US" b="1" dirty="0" smtClean="0"/>
              <a:t>(file)</a:t>
            </a:r>
            <a:endParaRPr lang="en-US" b="1" dirty="0"/>
          </a:p>
          <a:p>
            <a:pPr lvl="1"/>
            <a:r>
              <a:rPr lang="sr-Latn-RS" dirty="0"/>
              <a:t>l</a:t>
            </a:r>
            <a:r>
              <a:rPr lang="sr-Latn-RS" dirty="0" smtClean="0"/>
              <a:t>ogički koncept (različite implementacije)</a:t>
            </a:r>
            <a:endParaRPr lang="en-US" dirty="0"/>
          </a:p>
          <a:p>
            <a:pPr lvl="1"/>
            <a:r>
              <a:rPr lang="sr-Latn-RS" dirty="0" smtClean="0"/>
              <a:t>čuvanje sadržaja i </a:t>
            </a:r>
            <a:endParaRPr lang="en-US" dirty="0" smtClean="0"/>
          </a:p>
          <a:p>
            <a:pPr lvl="1"/>
            <a:r>
              <a:rPr lang="sr-Latn-RS" dirty="0" smtClean="0"/>
              <a:t>pristup sadržaju nezavisno od uređaja</a:t>
            </a:r>
            <a:endParaRPr lang="en-US" dirty="0" smtClean="0"/>
          </a:p>
          <a:p>
            <a:r>
              <a:rPr lang="sr-Latn-RS" dirty="0" smtClean="0"/>
              <a:t>Fajl je osmišljen da bi programe učinio </a:t>
            </a:r>
            <a:r>
              <a:rPr lang="sr-Latn-RS" b="1" dirty="0" smtClean="0"/>
              <a:t>nezavisnim</a:t>
            </a:r>
            <a:r>
              <a:rPr lang="sr-Latn-RS" dirty="0" smtClean="0"/>
              <a:t> </a:t>
            </a:r>
            <a:br>
              <a:rPr lang="sr-Latn-RS" dirty="0" smtClean="0"/>
            </a:br>
            <a:r>
              <a:rPr lang="sr-Latn-RS" dirty="0" smtClean="0"/>
              <a:t>od različitosti u načinu smeštanja sadržaja.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10000"/>
          </a:bodyPr>
          <a:lstStyle/>
          <a:p>
            <a:fld id="{49F83D39-FACF-43C7-9C4E-3C002A13A54D}" type="slidenum">
              <a:rPr lang="en-US" smtClean="0"/>
              <a:pPr/>
              <a:t>4</a:t>
            </a:fld>
            <a:r>
              <a:rPr lang="en-US" smtClean="0"/>
              <a:t>/17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5754" y="4153724"/>
            <a:ext cx="2214797" cy="2177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276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Uvod</a:t>
            </a:r>
            <a:r>
              <a:rPr lang="en-US" dirty="0"/>
              <a:t> - </a:t>
            </a:r>
            <a:r>
              <a:rPr lang="sr-Latn-RS" dirty="0"/>
              <a:t>Šta </a:t>
            </a:r>
            <a:r>
              <a:rPr lang="sr-Latn-RS" dirty="0" smtClean="0"/>
              <a:t>je direktorijum i FCB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1691322"/>
            <a:ext cx="7423155" cy="4351337"/>
          </a:xfrm>
        </p:spPr>
        <p:txBody>
          <a:bodyPr>
            <a:normAutofit/>
          </a:bodyPr>
          <a:lstStyle/>
          <a:p>
            <a:r>
              <a:rPr lang="en-US" b="1" dirty="0" err="1" smtClean="0"/>
              <a:t>Direktorijum</a:t>
            </a:r>
            <a:r>
              <a:rPr lang="en-US" b="1" dirty="0" smtClean="0"/>
              <a:t> (folder)</a:t>
            </a:r>
            <a:endParaRPr lang="en-US" b="1" dirty="0"/>
          </a:p>
          <a:p>
            <a:pPr lvl="1"/>
            <a:r>
              <a:rPr lang="sr-Latn-RS" dirty="0"/>
              <a:t>logički koncept </a:t>
            </a:r>
            <a:endParaRPr lang="en-US" dirty="0" smtClean="0"/>
          </a:p>
          <a:p>
            <a:pPr lvl="1"/>
            <a:r>
              <a:rPr lang="sr-Latn-RS" dirty="0" smtClean="0"/>
              <a:t>grupisanje fajlova </a:t>
            </a:r>
            <a:endParaRPr lang="en-US" dirty="0" smtClean="0"/>
          </a:p>
          <a:p>
            <a:r>
              <a:rPr lang="en-US" dirty="0" smtClean="0"/>
              <a:t>Mo</a:t>
            </a:r>
            <a:r>
              <a:rPr lang="sr-Latn-RS" dirty="0" smtClean="0"/>
              <a:t>že biti realizovan kao heš mapa</a:t>
            </a:r>
            <a:r>
              <a:rPr lang="en-US" dirty="0" smtClean="0"/>
              <a:t>, </a:t>
            </a:r>
            <a:r>
              <a:rPr lang="sr-Latn-RS" dirty="0" smtClean="0"/>
              <a:t>ulančana lista, stablo, graf...</a:t>
            </a:r>
            <a:endParaRPr lang="en-US" dirty="0" smtClean="0"/>
          </a:p>
          <a:p>
            <a:r>
              <a:rPr lang="en-US" dirty="0" smtClean="0"/>
              <a:t>O</a:t>
            </a:r>
            <a:r>
              <a:rPr lang="sr-Latn-RS" dirty="0" smtClean="0"/>
              <a:t>snovni zadatak direktorijuma</a:t>
            </a:r>
            <a:endParaRPr lang="en-US" dirty="0" smtClean="0"/>
          </a:p>
          <a:p>
            <a:pPr lvl="1"/>
            <a:r>
              <a:rPr lang="sr-Latn-RS" dirty="0" smtClean="0"/>
              <a:t>logičko ime fajla </a:t>
            </a:r>
            <a:r>
              <a:rPr lang="en-US" dirty="0" smtClean="0"/>
              <a:t>-&gt; </a:t>
            </a:r>
            <a:r>
              <a:rPr lang="en-US" b="1" dirty="0" smtClean="0"/>
              <a:t>FCB</a:t>
            </a:r>
          </a:p>
          <a:p>
            <a:r>
              <a:rPr lang="en-US" b="1" dirty="0" smtClean="0"/>
              <a:t>FCB (File Control Block)</a:t>
            </a:r>
          </a:p>
          <a:p>
            <a:pPr lvl="1"/>
            <a:r>
              <a:rPr lang="en-US" dirty="0" err="1" smtClean="0"/>
              <a:t>struktura</a:t>
            </a:r>
            <a:r>
              <a:rPr lang="en-US" dirty="0" smtClean="0"/>
              <a:t> </a:t>
            </a:r>
          </a:p>
          <a:p>
            <a:pPr lvl="1"/>
            <a:r>
              <a:rPr lang="en-US" dirty="0" err="1" smtClean="0"/>
              <a:t>sadr</a:t>
            </a:r>
            <a:r>
              <a:rPr lang="sr-Latn-RS" dirty="0" smtClean="0"/>
              <a:t>ži atribute fajla</a:t>
            </a:r>
            <a:endParaRPr lang="en-US" dirty="0"/>
          </a:p>
          <a:p>
            <a:pPr lvl="1"/>
            <a:r>
              <a:rPr lang="sr-Latn-RS" dirty="0" smtClean="0"/>
              <a:t>pomoću njega, operativni sistem obavlja operacije sa fajlom</a:t>
            </a:r>
            <a:br>
              <a:rPr lang="sr-Latn-RS" dirty="0" smtClean="0"/>
            </a:br>
            <a:r>
              <a:rPr lang="sr-Latn-RS" dirty="0" smtClean="0"/>
              <a:t>(čitanje, upis, menjanje privilegija...)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49F83D39-FACF-43C7-9C4E-3C002A13A54D}" type="slidenum">
              <a:rPr lang="en-US" smtClean="0"/>
              <a:pPr/>
              <a:t>5</a:t>
            </a:fld>
            <a:r>
              <a:rPr lang="en-US" smtClean="0"/>
              <a:t>/17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58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>
          <a:xfrm>
            <a:off x="2236853" y="5824168"/>
            <a:ext cx="3360420" cy="548640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en-US" b="1" i="1" dirty="0" err="1" smtClean="0"/>
              <a:t>Hijerarhijska</a:t>
            </a:r>
            <a:r>
              <a:rPr lang="en-US" b="1" i="1" dirty="0" smtClean="0"/>
              <a:t> </a:t>
            </a:r>
            <a:r>
              <a:rPr lang="en-US" b="1" i="1" dirty="0" err="1" smtClean="0"/>
              <a:t>struktura</a:t>
            </a:r>
            <a:r>
              <a:rPr lang="en-US" b="1" i="1" dirty="0" smtClean="0"/>
              <a:t> </a:t>
            </a:r>
            <a:r>
              <a:rPr lang="en-US" b="1" i="1" dirty="0" err="1" smtClean="0"/>
              <a:t>direktorijuma</a:t>
            </a:r>
            <a:endParaRPr lang="en-US" b="1" i="1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"/>
          </p:nvPr>
        </p:nvSpPr>
        <p:spPr>
          <a:xfrm>
            <a:off x="6319599" y="5824168"/>
            <a:ext cx="3360420" cy="548640"/>
          </a:xfrm>
        </p:spPr>
        <p:txBody>
          <a:bodyPr/>
          <a:lstStyle/>
          <a:p>
            <a:pPr algn="ctr"/>
            <a:r>
              <a:rPr lang="en-US" b="1" i="1" dirty="0" smtClean="0">
                <a:latin typeface="Calibri (Body)"/>
              </a:rPr>
              <a:t>FCB</a:t>
            </a:r>
            <a:endParaRPr lang="en-US" b="1" i="1" dirty="0">
              <a:latin typeface="Calibri (Body)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10000"/>
          </a:bodyPr>
          <a:lstStyle/>
          <a:p>
            <a:fld id="{516B7588-0C4F-49E0-B1AB-2BC6867C93B8}" type="slidenum">
              <a:rPr lang="en-US" smtClean="0"/>
              <a:pPr/>
              <a:t>6</a:t>
            </a:fld>
            <a:r>
              <a:rPr lang="en-US" smtClean="0"/>
              <a:t>/17</a:t>
            </a:r>
            <a:endParaRPr lang="en-US" dirty="0"/>
          </a:p>
        </p:txBody>
      </p:sp>
      <p:sp>
        <p:nvSpPr>
          <p:cNvPr id="15" name="Oval 14"/>
          <p:cNvSpPr/>
          <p:nvPr/>
        </p:nvSpPr>
        <p:spPr>
          <a:xfrm>
            <a:off x="3936305" y="1421609"/>
            <a:ext cx="428625" cy="4286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\</a:t>
            </a:r>
          </a:p>
        </p:txBody>
      </p:sp>
      <p:sp>
        <p:nvSpPr>
          <p:cNvPr id="16" name="Oval 15"/>
          <p:cNvSpPr/>
          <p:nvPr/>
        </p:nvSpPr>
        <p:spPr>
          <a:xfrm>
            <a:off x="3243361" y="2157416"/>
            <a:ext cx="428625" cy="4286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A</a:t>
            </a:r>
          </a:p>
        </p:txBody>
      </p:sp>
      <p:sp>
        <p:nvSpPr>
          <p:cNvPr id="17" name="Oval 16"/>
          <p:cNvSpPr/>
          <p:nvPr/>
        </p:nvSpPr>
        <p:spPr>
          <a:xfrm>
            <a:off x="4650680" y="2157416"/>
            <a:ext cx="428625" cy="4286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B</a:t>
            </a:r>
          </a:p>
        </p:txBody>
      </p:sp>
      <p:sp>
        <p:nvSpPr>
          <p:cNvPr id="18" name="Oval 17"/>
          <p:cNvSpPr/>
          <p:nvPr/>
        </p:nvSpPr>
        <p:spPr>
          <a:xfrm>
            <a:off x="3936305" y="2900365"/>
            <a:ext cx="428625" cy="4286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C</a:t>
            </a:r>
          </a:p>
        </p:txBody>
      </p:sp>
      <p:sp>
        <p:nvSpPr>
          <p:cNvPr id="19" name="Oval 18"/>
          <p:cNvSpPr/>
          <p:nvPr/>
        </p:nvSpPr>
        <p:spPr>
          <a:xfrm>
            <a:off x="3243361" y="3704752"/>
            <a:ext cx="428625" cy="42862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1" dirty="0">
                <a:latin typeface="Calibri (Body)"/>
              </a:rPr>
              <a:t>f1</a:t>
            </a:r>
            <a:endParaRPr lang="en-US" sz="1351" dirty="0">
              <a:latin typeface="Calibri (Body)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650680" y="3704752"/>
            <a:ext cx="428625" cy="42862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1" dirty="0">
                <a:latin typeface="Calibri (Body)"/>
              </a:rPr>
              <a:t>f2</a:t>
            </a:r>
          </a:p>
        </p:txBody>
      </p:sp>
      <p:cxnSp>
        <p:nvCxnSpPr>
          <p:cNvPr id="22" name="Straight Connector 21"/>
          <p:cNvCxnSpPr>
            <a:stCxn id="15" idx="5"/>
            <a:endCxn id="17" idx="1"/>
          </p:cNvCxnSpPr>
          <p:nvPr/>
        </p:nvCxnSpPr>
        <p:spPr>
          <a:xfrm>
            <a:off x="4302157" y="1787461"/>
            <a:ext cx="411291" cy="4327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7" idx="3"/>
            <a:endCxn id="18" idx="7"/>
          </p:cNvCxnSpPr>
          <p:nvPr/>
        </p:nvCxnSpPr>
        <p:spPr>
          <a:xfrm flipH="1">
            <a:off x="4302157" y="2523267"/>
            <a:ext cx="411291" cy="4398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8" idx="5"/>
            <a:endCxn id="20" idx="1"/>
          </p:cNvCxnSpPr>
          <p:nvPr/>
        </p:nvCxnSpPr>
        <p:spPr>
          <a:xfrm>
            <a:off x="4302157" y="3266218"/>
            <a:ext cx="411291" cy="5013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8" idx="3"/>
            <a:endCxn id="19" idx="7"/>
          </p:cNvCxnSpPr>
          <p:nvPr/>
        </p:nvCxnSpPr>
        <p:spPr>
          <a:xfrm flipH="1">
            <a:off x="3609214" y="3266218"/>
            <a:ext cx="389860" cy="5013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5" idx="3"/>
            <a:endCxn id="16" idx="7"/>
          </p:cNvCxnSpPr>
          <p:nvPr/>
        </p:nvCxnSpPr>
        <p:spPr>
          <a:xfrm flipH="1">
            <a:off x="3609214" y="1787461"/>
            <a:ext cx="389860" cy="4327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960397" y="1535908"/>
            <a:ext cx="2078831" cy="3143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File permissions</a:t>
            </a:r>
          </a:p>
        </p:txBody>
      </p:sp>
      <p:cxnSp>
        <p:nvCxnSpPr>
          <p:cNvPr id="36" name="Straight Arrow Connector 35"/>
          <p:cNvCxnSpPr>
            <a:endCxn id="19" idx="3"/>
          </p:cNvCxnSpPr>
          <p:nvPr/>
        </p:nvCxnSpPr>
        <p:spPr>
          <a:xfrm flipV="1">
            <a:off x="2745583" y="4070605"/>
            <a:ext cx="560547" cy="55854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endCxn id="20" idx="3"/>
          </p:cNvCxnSpPr>
          <p:nvPr/>
        </p:nvCxnSpPr>
        <p:spPr>
          <a:xfrm flipV="1">
            <a:off x="2809875" y="4070605"/>
            <a:ext cx="1903572" cy="60855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236854" y="4583608"/>
            <a:ext cx="1069277" cy="300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1" dirty="0" err="1">
                <a:latin typeface="Calibri (Body)"/>
              </a:rPr>
              <a:t>Fajlovi</a:t>
            </a:r>
            <a:endParaRPr lang="en-US" sz="1351" dirty="0">
              <a:latin typeface="Calibri (Body)"/>
            </a:endParaRPr>
          </a:p>
        </p:txBody>
      </p:sp>
      <p:cxnSp>
        <p:nvCxnSpPr>
          <p:cNvPr id="42" name="Straight Arrow Connector 41"/>
          <p:cNvCxnSpPr>
            <a:endCxn id="15" idx="7"/>
          </p:cNvCxnSpPr>
          <p:nvPr/>
        </p:nvCxnSpPr>
        <p:spPr>
          <a:xfrm flipH="1">
            <a:off x="4302157" y="1200152"/>
            <a:ext cx="411291" cy="28422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713448" y="1100141"/>
            <a:ext cx="1419875" cy="508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1" dirty="0" err="1">
                <a:latin typeface="Calibri (Body)"/>
              </a:rPr>
              <a:t>Koreni</a:t>
            </a:r>
            <a:r>
              <a:rPr lang="en-US" sz="1351" dirty="0">
                <a:latin typeface="Calibri (Body)"/>
              </a:rPr>
              <a:t> </a:t>
            </a:r>
            <a:r>
              <a:rPr lang="en-US" sz="1351" dirty="0" err="1">
                <a:latin typeface="Calibri (Body)"/>
              </a:rPr>
              <a:t>direktorijum</a:t>
            </a:r>
            <a:endParaRPr lang="en-US" sz="1351" dirty="0">
              <a:latin typeface="Calibri (Body)"/>
            </a:endParaRPr>
          </a:p>
        </p:txBody>
      </p:sp>
      <p:cxnSp>
        <p:nvCxnSpPr>
          <p:cNvPr id="45" name="Straight Arrow Connector 44"/>
          <p:cNvCxnSpPr>
            <a:endCxn id="16" idx="1"/>
          </p:cNvCxnSpPr>
          <p:nvPr/>
        </p:nvCxnSpPr>
        <p:spPr>
          <a:xfrm>
            <a:off x="2809878" y="1935959"/>
            <a:ext cx="496253" cy="28422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endCxn id="18" idx="1"/>
          </p:cNvCxnSpPr>
          <p:nvPr/>
        </p:nvCxnSpPr>
        <p:spPr>
          <a:xfrm>
            <a:off x="2745584" y="2064546"/>
            <a:ext cx="1253491" cy="89858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17" idx="2"/>
          </p:cNvCxnSpPr>
          <p:nvPr/>
        </p:nvCxnSpPr>
        <p:spPr>
          <a:xfrm>
            <a:off x="2874170" y="1850233"/>
            <a:ext cx="1776508" cy="52149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endCxn id="15" idx="2"/>
          </p:cNvCxnSpPr>
          <p:nvPr/>
        </p:nvCxnSpPr>
        <p:spPr>
          <a:xfrm flipV="1">
            <a:off x="2931322" y="1635919"/>
            <a:ext cx="1004983" cy="15154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703932" y="1689387"/>
            <a:ext cx="1242251" cy="300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1" dirty="0" err="1">
                <a:latin typeface="Calibri (Body)"/>
              </a:rPr>
              <a:t>Direktorijumi</a:t>
            </a:r>
            <a:endParaRPr lang="en-US" sz="1351" dirty="0">
              <a:latin typeface="Calibri (Body)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6960397" y="1857378"/>
            <a:ext cx="2078831" cy="3143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File dates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60397" y="2178847"/>
            <a:ext cx="2078831" cy="3143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File owner, group, ACL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60397" y="2500315"/>
            <a:ext cx="2078831" cy="3143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File size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60397" y="2821783"/>
            <a:ext cx="2078831" cy="13115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File data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960395" y="2821783"/>
            <a:ext cx="2078831" cy="3143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***</a:t>
            </a:r>
          </a:p>
        </p:txBody>
      </p:sp>
      <p:cxnSp>
        <p:nvCxnSpPr>
          <p:cNvPr id="64" name="Straight Arrow Connector 63"/>
          <p:cNvCxnSpPr>
            <a:stCxn id="62" idx="2"/>
            <a:endCxn id="61" idx="2"/>
          </p:cNvCxnSpPr>
          <p:nvPr/>
        </p:nvCxnSpPr>
        <p:spPr>
          <a:xfrm>
            <a:off x="7999811" y="3136108"/>
            <a:ext cx="2" cy="99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6738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7.40741E-7 L -3.125E-6 0.18773 " pathEditMode="relative" rAng="0" ptsTypes="AA">
                                      <p:cBhvr>
                                        <p:cTn id="32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3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75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5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3" grpId="0"/>
      <p:bldP spid="57" grpId="0"/>
      <p:bldP spid="61" grpId="0" animBg="1"/>
      <p:bldP spid="6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Šta je fajl s</a:t>
            </a:r>
            <a:r>
              <a:rPr lang="en-US" dirty="0" err="1"/>
              <a:t>i</a:t>
            </a:r>
            <a:r>
              <a:rPr lang="sr-Latn-RS" dirty="0"/>
              <a:t>stem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1704940"/>
            <a:ext cx="7376503" cy="4351337"/>
          </a:xfrm>
        </p:spPr>
        <p:txBody>
          <a:bodyPr/>
          <a:lstStyle/>
          <a:p>
            <a:r>
              <a:rPr lang="en-US" b="1" dirty="0" err="1" smtClean="0"/>
              <a:t>Fajl</a:t>
            </a:r>
            <a:r>
              <a:rPr lang="en-US" b="1" dirty="0" smtClean="0"/>
              <a:t> </a:t>
            </a:r>
            <a:r>
              <a:rPr lang="en-US" b="1" dirty="0" err="1" smtClean="0"/>
              <a:t>sistem</a:t>
            </a:r>
            <a:endParaRPr lang="en-US" b="1" dirty="0" smtClean="0"/>
          </a:p>
          <a:p>
            <a:pPr lvl="1"/>
            <a:r>
              <a:rPr lang="en-US" dirty="0" err="1" smtClean="0"/>
              <a:t>na</a:t>
            </a:r>
            <a:r>
              <a:rPr lang="sr-Latn-RS" dirty="0" smtClean="0"/>
              <a:t>čin organizacije fajlova na memorijski uređajima (HDD, SSD, USB...)</a:t>
            </a:r>
          </a:p>
          <a:p>
            <a:pPr lvl="1"/>
            <a:r>
              <a:rPr lang="sr-Latn-RS" dirty="0" smtClean="0"/>
              <a:t>čuvanje sadržaja na disku</a:t>
            </a:r>
            <a:endParaRPr lang="en-US" dirty="0" smtClean="0"/>
          </a:p>
          <a:p>
            <a:pPr lvl="1"/>
            <a:r>
              <a:rPr lang="en-US" dirty="0" err="1" smtClean="0"/>
              <a:t>pronalazak</a:t>
            </a:r>
            <a:r>
              <a:rPr lang="en-US" dirty="0" smtClean="0"/>
              <a:t> </a:t>
            </a:r>
            <a:r>
              <a:rPr lang="en-US" dirty="0" err="1" smtClean="0"/>
              <a:t>sadr</a:t>
            </a:r>
            <a:r>
              <a:rPr lang="sr-Latn-RS" dirty="0" smtClean="0"/>
              <a:t>žaja na disku</a:t>
            </a:r>
          </a:p>
          <a:p>
            <a:pPr marL="274313" lvl="1" indent="0">
              <a:buNone/>
            </a:pPr>
            <a:endParaRPr lang="sr-Latn-RS" dirty="0" smtClean="0"/>
          </a:p>
          <a:p>
            <a:r>
              <a:rPr lang="sr-Latn-RS" dirty="0" smtClean="0"/>
              <a:t>Disk</a:t>
            </a:r>
            <a:r>
              <a:rPr lang="sr-Latn-RS" dirty="0"/>
              <a:t> </a:t>
            </a:r>
            <a:endParaRPr lang="sr-Latn-RS" dirty="0" smtClean="0"/>
          </a:p>
          <a:p>
            <a:pPr lvl="1"/>
            <a:r>
              <a:rPr lang="sr-Latn-RS" dirty="0" smtClean="0"/>
              <a:t>čitanje bloka</a:t>
            </a:r>
          </a:p>
          <a:p>
            <a:pPr lvl="1"/>
            <a:r>
              <a:rPr lang="sr-Latn-RS" dirty="0" smtClean="0"/>
              <a:t>upis u blok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49F83D39-FACF-43C7-9C4E-3C002A13A54D}" type="slidenum">
              <a:rPr lang="en-US" smtClean="0"/>
              <a:pPr/>
              <a:t>7</a:t>
            </a:fld>
            <a:r>
              <a:rPr lang="en-US" smtClean="0"/>
              <a:t>/17</a:t>
            </a:r>
            <a:endParaRPr lang="en-US" dirty="0"/>
          </a:p>
        </p:txBody>
      </p:sp>
      <p:grpSp>
        <p:nvGrpSpPr>
          <p:cNvPr id="25" name="Group 24"/>
          <p:cNvGrpSpPr/>
          <p:nvPr/>
        </p:nvGrpSpPr>
        <p:grpSpPr>
          <a:xfrm>
            <a:off x="5169314" y="4539419"/>
            <a:ext cx="1871663" cy="1778199"/>
            <a:chOff x="4625975" y="4156870"/>
            <a:chExt cx="2495550" cy="2370930"/>
          </a:xfrm>
        </p:grpSpPr>
        <p:sp>
          <p:nvSpPr>
            <p:cNvPr id="8" name="Flowchart: Magnetic Disk 7"/>
            <p:cNvSpPr/>
            <p:nvPr/>
          </p:nvSpPr>
          <p:spPr>
            <a:xfrm>
              <a:off x="4625975" y="4156870"/>
              <a:ext cx="2495550" cy="2370930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>
                <a:latin typeface="Calibri (Body)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567883" y="5039915"/>
              <a:ext cx="321469" cy="32146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4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285581" y="5037931"/>
              <a:ext cx="321469" cy="32146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1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713015" y="5037931"/>
              <a:ext cx="321469" cy="32146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2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863060" y="5037931"/>
              <a:ext cx="321469" cy="32146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140449" y="5046266"/>
              <a:ext cx="321469" cy="32146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3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564310" y="5498864"/>
              <a:ext cx="321469" cy="32146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9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858145" y="5947966"/>
              <a:ext cx="321469" cy="32146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A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140449" y="5498863"/>
              <a:ext cx="321469" cy="32146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8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713015" y="5492515"/>
              <a:ext cx="321469" cy="32146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7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285580" y="5494500"/>
              <a:ext cx="321469" cy="32146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6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858146" y="5501245"/>
              <a:ext cx="321469" cy="32146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5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5250259" y="6179347"/>
              <a:ext cx="61115" cy="6111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>
                <a:latin typeface="Calibri (Body)"/>
              </a:endParaRPr>
            </a:p>
          </p:txBody>
        </p:sp>
        <p:sp>
          <p:nvSpPr>
            <p:cNvPr id="23" name="Oval 22"/>
            <p:cNvSpPr/>
            <p:nvPr/>
          </p:nvSpPr>
          <p:spPr>
            <a:xfrm>
              <a:off x="5381622" y="6179347"/>
              <a:ext cx="61115" cy="6111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>
                <a:latin typeface="Calibri (Body)"/>
              </a:endParaRPr>
            </a:p>
          </p:txBody>
        </p:sp>
        <p:sp>
          <p:nvSpPr>
            <p:cNvPr id="24" name="Oval 23"/>
            <p:cNvSpPr/>
            <p:nvPr/>
          </p:nvSpPr>
          <p:spPr>
            <a:xfrm>
              <a:off x="5516960" y="6179346"/>
              <a:ext cx="61115" cy="6111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>
                <a:latin typeface="Calibri (Body)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6280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Istorija</a:t>
            </a:r>
            <a:r>
              <a:rPr lang="en-US" dirty="0" smtClean="0"/>
              <a:t> </a:t>
            </a:r>
            <a:r>
              <a:rPr lang="en-US" dirty="0" err="1" smtClean="0"/>
              <a:t>fajl</a:t>
            </a:r>
            <a:r>
              <a:rPr lang="en-US" dirty="0" smtClean="0"/>
              <a:t> </a:t>
            </a:r>
            <a:r>
              <a:rPr lang="en-US" dirty="0" err="1" smtClean="0"/>
              <a:t>sistema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Windowsu</a:t>
            </a:r>
            <a:r>
              <a:rPr lang="sr-Latn-RS" dirty="0" smtClean="0"/>
              <a:t>	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10000"/>
          </a:bodyPr>
          <a:lstStyle/>
          <a:p>
            <a:fld id="{49F83D39-FACF-43C7-9C4E-3C002A13A54D}" type="slidenum">
              <a:rPr lang="en-US" smtClean="0"/>
              <a:pPr/>
              <a:t>8</a:t>
            </a:fld>
            <a:r>
              <a:rPr lang="en-US" smtClean="0"/>
              <a:t>/17</a:t>
            </a:r>
            <a:endParaRPr lang="en-US" dirty="0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1272377" y="2448328"/>
            <a:ext cx="0" cy="30986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82887" y="2448327"/>
            <a:ext cx="3595793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1" b="1" dirty="0">
                <a:latin typeface="Calibri (Body)"/>
              </a:rPr>
              <a:t>1980 - FAT12 – File Allocation Table 12-bit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2884" y="2828436"/>
            <a:ext cx="1229824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1" b="1" dirty="0">
                <a:latin typeface="Calibri (Body)"/>
              </a:rPr>
              <a:t>1984 - FAT16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2887" y="3108298"/>
            <a:ext cx="4253087" cy="5080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1" dirty="0">
                <a:latin typeface="Calibri (Body)"/>
              </a:rPr>
              <a:t>1988 - ISO 9660 / CDFS - Compact Disc File System</a:t>
            </a:r>
          </a:p>
          <a:p>
            <a:r>
              <a:rPr lang="en-US" sz="1351" dirty="0">
                <a:latin typeface="Calibri (Body)"/>
              </a:rPr>
              <a:t>	 - HPFS - High Performance File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4" y="3631280"/>
            <a:ext cx="3740063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1" b="1" dirty="0">
                <a:latin typeface="Calibri (Body)"/>
              </a:rPr>
              <a:t>1993 - </a:t>
            </a:r>
            <a:r>
              <a:rPr lang="sr-Latn-RS" sz="1351" b="1" dirty="0">
                <a:latin typeface="Calibri (Body)"/>
              </a:rPr>
              <a:t>NTFS </a:t>
            </a:r>
            <a:r>
              <a:rPr lang="en-US" sz="1351" b="1" dirty="0">
                <a:latin typeface="Calibri (Body)"/>
              </a:rPr>
              <a:t>– New Technology File System</a:t>
            </a:r>
            <a:endParaRPr lang="sr-Latn-RS" sz="1351" b="1" dirty="0">
              <a:latin typeface="Calibri (Body)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61872" y="4221223"/>
            <a:ext cx="2246128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1" b="1" dirty="0">
                <a:latin typeface="Calibri (Body)"/>
              </a:rPr>
              <a:t>1996 - </a:t>
            </a:r>
            <a:r>
              <a:rPr lang="sr-Latn-RS" sz="1351" b="1" dirty="0">
                <a:latin typeface="Calibri (Body)"/>
              </a:rPr>
              <a:t>FAT32</a:t>
            </a:r>
            <a:r>
              <a:rPr lang="en-US" sz="1351" b="1" dirty="0">
                <a:latin typeface="Calibri (Body)"/>
              </a:rPr>
              <a:t> – FAT 32-bit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4039256"/>
            <a:ext cx="2973891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1" dirty="0">
                <a:latin typeface="Calibri (Body)"/>
              </a:rPr>
              <a:t>1995 - </a:t>
            </a:r>
            <a:r>
              <a:rPr lang="sr-Latn-RS" sz="1351" dirty="0">
                <a:latin typeface="Calibri (Body)"/>
              </a:rPr>
              <a:t>UDF</a:t>
            </a:r>
            <a:r>
              <a:rPr lang="en-US" sz="1351" dirty="0">
                <a:latin typeface="Calibri (Body)"/>
              </a:rPr>
              <a:t> – Universal Disk Format</a:t>
            </a:r>
            <a:endParaRPr lang="sr-Latn-RS" sz="1351" dirty="0">
              <a:latin typeface="Calibri (Body)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75772" y="4654982"/>
            <a:ext cx="3999749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1" b="1" dirty="0">
                <a:latin typeface="Calibri (Body)"/>
              </a:rPr>
              <a:t>2006 - e</a:t>
            </a:r>
            <a:r>
              <a:rPr lang="sr-Latn-RS" sz="1351" b="1" dirty="0">
                <a:latin typeface="Calibri (Body)"/>
              </a:rPr>
              <a:t>xFAT</a:t>
            </a:r>
            <a:r>
              <a:rPr lang="en-US" sz="1351" b="1" dirty="0">
                <a:latin typeface="Calibri (Body)"/>
              </a:rPr>
              <a:t> – Extensible File Allocation Table</a:t>
            </a:r>
            <a:endParaRPr lang="sr-Latn-RS" sz="1351" b="1" dirty="0">
              <a:latin typeface="Calibri (Body)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85300" y="5161583"/>
            <a:ext cx="2945037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1" dirty="0">
                <a:latin typeface="Calibri (Body)"/>
              </a:rPr>
              <a:t>2012 - </a:t>
            </a:r>
            <a:r>
              <a:rPr lang="en-US" sz="1351" dirty="0" err="1">
                <a:latin typeface="Calibri (Body)"/>
              </a:rPr>
              <a:t>ReFS</a:t>
            </a:r>
            <a:r>
              <a:rPr lang="en-US" sz="1351" dirty="0">
                <a:latin typeface="Calibri (Body)"/>
              </a:rPr>
              <a:t> (Resilient File System)</a:t>
            </a:r>
            <a:endParaRPr lang="sr-Latn-RS" sz="1351" dirty="0">
              <a:latin typeface="Calibri (Body)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71030" y="2448328"/>
            <a:ext cx="1811655" cy="508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1" b="1" dirty="0" err="1">
                <a:latin typeface="Calibri (Body)"/>
              </a:rPr>
              <a:t>Diskete</a:t>
            </a:r>
            <a:r>
              <a:rPr lang="en-US" sz="1351" b="1" dirty="0">
                <a:latin typeface="Calibri (Body)"/>
              </a:rPr>
              <a:t> </a:t>
            </a:r>
            <a:r>
              <a:rPr lang="en-US" sz="1351" b="1" dirty="0" err="1">
                <a:latin typeface="Calibri (Body)"/>
              </a:rPr>
              <a:t>i</a:t>
            </a:r>
            <a:r>
              <a:rPr lang="en-US" sz="1351" b="1" dirty="0">
                <a:latin typeface="Calibri (Body)"/>
              </a:rPr>
              <a:t> </a:t>
            </a:r>
            <a:r>
              <a:rPr lang="en-US" sz="1351" b="1" dirty="0" err="1">
                <a:latin typeface="Calibri (Body)"/>
              </a:rPr>
              <a:t>mali</a:t>
            </a:r>
            <a:r>
              <a:rPr lang="en-US" sz="1351" b="1" dirty="0">
                <a:latin typeface="Calibri (Body)"/>
              </a:rPr>
              <a:t> </a:t>
            </a:r>
            <a:r>
              <a:rPr lang="en-US" sz="1351" b="1" dirty="0" err="1">
                <a:latin typeface="Calibri (Body)"/>
              </a:rPr>
              <a:t>ure</a:t>
            </a:r>
            <a:r>
              <a:rPr lang="sr-Latn-RS" sz="1351" b="1" dirty="0">
                <a:latin typeface="Calibri (Body)"/>
              </a:rPr>
              <a:t>đaji</a:t>
            </a:r>
            <a:endParaRPr lang="en-US" sz="1351" b="1" dirty="0">
              <a:latin typeface="Calibri (Body)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71030" y="3105435"/>
            <a:ext cx="1811655" cy="300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1" dirty="0">
                <a:latin typeface="Calibri (Body)"/>
              </a:rPr>
              <a:t>CD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1030" y="4034643"/>
            <a:ext cx="1811655" cy="300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1" dirty="0">
                <a:latin typeface="Calibri (Body)"/>
              </a:rPr>
              <a:t>DVD </a:t>
            </a:r>
            <a:r>
              <a:rPr lang="en-US" sz="1351" dirty="0" err="1">
                <a:latin typeface="Calibri (Body)"/>
              </a:rPr>
              <a:t>i</a:t>
            </a:r>
            <a:r>
              <a:rPr lang="en-US" sz="1351" dirty="0">
                <a:latin typeface="Calibri (Body)"/>
              </a:rPr>
              <a:t> Blu-ray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1028" y="4654984"/>
            <a:ext cx="1815824" cy="508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1" b="1" dirty="0">
                <a:latin typeface="Calibri (Body)"/>
              </a:rPr>
              <a:t>Flash </a:t>
            </a:r>
            <a:r>
              <a:rPr lang="en-US" sz="1351" b="1" dirty="0" err="1">
                <a:latin typeface="Calibri (Body)"/>
              </a:rPr>
              <a:t>i</a:t>
            </a:r>
            <a:r>
              <a:rPr lang="en-US" sz="1351" b="1" dirty="0">
                <a:latin typeface="Calibri (Body)"/>
              </a:rPr>
              <a:t> </a:t>
            </a:r>
            <a:r>
              <a:rPr lang="en-US" sz="1351" b="1" dirty="0" err="1">
                <a:latin typeface="Calibri (Body)"/>
              </a:rPr>
              <a:t>moderni</a:t>
            </a:r>
            <a:r>
              <a:rPr lang="en-US" sz="1351" b="1" dirty="0">
                <a:latin typeface="Calibri (Body)"/>
              </a:rPr>
              <a:t> </a:t>
            </a:r>
            <a:r>
              <a:rPr lang="en-US" sz="1351" b="1" dirty="0" err="1">
                <a:latin typeface="Calibri (Body)"/>
              </a:rPr>
              <a:t>ure</a:t>
            </a:r>
            <a:r>
              <a:rPr lang="sr-Latn-RS" sz="1351" b="1" dirty="0">
                <a:latin typeface="Calibri (Body)"/>
              </a:rPr>
              <a:t>đaji</a:t>
            </a:r>
            <a:endParaRPr lang="en-US" sz="1351" b="1" dirty="0">
              <a:latin typeface="Calibri (Body)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71030" y="5161583"/>
            <a:ext cx="2328863" cy="300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1351" dirty="0">
                <a:latin typeface="Calibri (Body)"/>
              </a:rPr>
              <a:t>Serveri i skladišni sistemi</a:t>
            </a:r>
            <a:endParaRPr lang="en-US" sz="1351" dirty="0">
              <a:latin typeface="Calibri (Body)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71030" y="4255424"/>
            <a:ext cx="1811655" cy="508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1351" b="1" dirty="0">
                <a:latin typeface="Calibri (Body)"/>
              </a:rPr>
              <a:t>USB i prenosivi uređaji</a:t>
            </a:r>
            <a:endParaRPr lang="en-US" sz="1351" b="1" dirty="0">
              <a:latin typeface="Calibri (Body)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71030" y="3626259"/>
            <a:ext cx="1811655" cy="508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1351" b="1" dirty="0">
                <a:latin typeface="Calibri (Body)"/>
              </a:rPr>
              <a:t>Glavni fajl sistem danas</a:t>
            </a:r>
            <a:endParaRPr lang="en-US" sz="1351" b="1" dirty="0">
              <a:latin typeface="Calibri (Body)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71028" y="2816431"/>
            <a:ext cx="2233136" cy="300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1351" b="1" dirty="0">
                <a:latin typeface="Calibri (Body)"/>
              </a:rPr>
              <a:t>Za starije </a:t>
            </a:r>
            <a:r>
              <a:rPr lang="sr-Latn-RS" sz="1351" b="1" dirty="0">
                <a:latin typeface="Calibri (Body)"/>
              </a:rPr>
              <a:t>verzije</a:t>
            </a:r>
            <a:r>
              <a:rPr lang="en-US" sz="1351" b="1" dirty="0">
                <a:latin typeface="Calibri (Body)"/>
              </a:rPr>
              <a:t> OS</a:t>
            </a:r>
            <a:endParaRPr lang="en-US" sz="1351" b="1" dirty="0">
              <a:latin typeface="Calibri (Body)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71027" y="3335039"/>
            <a:ext cx="2178844" cy="300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1351" dirty="0">
                <a:latin typeface="Calibri (Body)"/>
              </a:rPr>
              <a:t>Unapređenje FAT </a:t>
            </a:r>
            <a:endParaRPr lang="en-US" sz="1351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3517795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Metode alokacije fajla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1691322"/>
            <a:ext cx="7059261" cy="3557587"/>
          </a:xfrm>
        </p:spPr>
        <p:txBody>
          <a:bodyPr>
            <a:normAutofit/>
          </a:bodyPr>
          <a:lstStyle/>
          <a:p>
            <a:r>
              <a:rPr lang="sr-Latn-RS" dirty="0" smtClean="0"/>
              <a:t>Pošto u dosta slučajeva, veličina fajla je veća od jednog bloka</a:t>
            </a:r>
            <a:br>
              <a:rPr lang="sr-Latn-RS" dirty="0" smtClean="0"/>
            </a:br>
            <a:r>
              <a:rPr lang="sr-Latn-RS" dirty="0" smtClean="0"/>
              <a:t>moramo nekako voditi računa o tome koji blok se odnosi na koji fajl.</a:t>
            </a:r>
          </a:p>
          <a:p>
            <a:r>
              <a:rPr lang="sr-Latn-RS" dirty="0" smtClean="0"/>
              <a:t>Neke od metoda su:</a:t>
            </a:r>
          </a:p>
          <a:p>
            <a:pPr lvl="1"/>
            <a:r>
              <a:rPr lang="sr-Latn-RS" b="1" dirty="0" smtClean="0"/>
              <a:t>kontinualna alokacija</a:t>
            </a:r>
            <a:endParaRPr lang="en-US" b="1" dirty="0" smtClean="0"/>
          </a:p>
          <a:p>
            <a:pPr lvl="1"/>
            <a:r>
              <a:rPr lang="sr-Latn-RS" b="1" dirty="0" smtClean="0"/>
              <a:t>ulančana alokacija</a:t>
            </a:r>
            <a:endParaRPr lang="en-US" b="1" dirty="0" smtClean="0"/>
          </a:p>
          <a:p>
            <a:pPr lvl="1"/>
            <a:r>
              <a:rPr lang="sr-Latn-RS" b="1" dirty="0" smtClean="0"/>
              <a:t>indeksna alokacija</a:t>
            </a:r>
          </a:p>
          <a:p>
            <a:pPr lvl="1"/>
            <a:r>
              <a:rPr lang="sr-Latn-RS" b="1" dirty="0" smtClean="0"/>
              <a:t>kombinovana alokacija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10000"/>
          </a:bodyPr>
          <a:lstStyle/>
          <a:p>
            <a:fld id="{49F83D39-FACF-43C7-9C4E-3C002A13A54D}" type="slidenum">
              <a:rPr lang="en-US" smtClean="0"/>
              <a:pPr/>
              <a:t>9</a:t>
            </a:fld>
            <a:r>
              <a:rPr lang="en-US" smtClean="0"/>
              <a:t>/17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33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2282896" y="1014620"/>
            <a:ext cx="1871663" cy="1778199"/>
            <a:chOff x="1571695" y="184945"/>
            <a:chExt cx="2495550" cy="2370930"/>
          </a:xfrm>
        </p:grpSpPr>
        <p:sp>
          <p:nvSpPr>
            <p:cNvPr id="6" name="Flowchart: Magnetic Disk 5"/>
            <p:cNvSpPr/>
            <p:nvPr/>
          </p:nvSpPr>
          <p:spPr>
            <a:xfrm>
              <a:off x="1571695" y="184945"/>
              <a:ext cx="2495550" cy="2370930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>
                <a:latin typeface="Calibri (Body)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3513603" y="1067990"/>
              <a:ext cx="321469" cy="321469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4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231301" y="1066006"/>
              <a:ext cx="321469" cy="321469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1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2658735" y="1066006"/>
              <a:ext cx="321469" cy="321469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2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08780" y="1066006"/>
              <a:ext cx="321469" cy="321469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0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86169" y="1074341"/>
              <a:ext cx="321469" cy="321469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3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510030" y="1526939"/>
              <a:ext cx="321469" cy="32146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9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03865" y="1976041"/>
              <a:ext cx="321469" cy="32146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A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086169" y="1526938"/>
              <a:ext cx="321469" cy="32146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8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658735" y="1520590"/>
              <a:ext cx="321469" cy="32146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7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231300" y="1522575"/>
              <a:ext cx="321469" cy="32146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6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803866" y="1529320"/>
              <a:ext cx="321469" cy="321469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5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2195979" y="2207422"/>
              <a:ext cx="61115" cy="6111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>
                <a:latin typeface="Calibri (Body)"/>
              </a:endParaRPr>
            </a:p>
          </p:txBody>
        </p:sp>
        <p:sp>
          <p:nvSpPr>
            <p:cNvPr id="19" name="Oval 18"/>
            <p:cNvSpPr/>
            <p:nvPr/>
          </p:nvSpPr>
          <p:spPr>
            <a:xfrm>
              <a:off x="2327342" y="2207422"/>
              <a:ext cx="61115" cy="6111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>
                <a:latin typeface="Calibri (Body)"/>
              </a:endParaRPr>
            </a:p>
          </p:txBody>
        </p:sp>
        <p:sp>
          <p:nvSpPr>
            <p:cNvPr id="20" name="Oval 19"/>
            <p:cNvSpPr/>
            <p:nvPr/>
          </p:nvSpPr>
          <p:spPr>
            <a:xfrm>
              <a:off x="2462680" y="2207421"/>
              <a:ext cx="61115" cy="6111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>
                <a:latin typeface="Calibri (Body)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361928" y="1014620"/>
            <a:ext cx="1871663" cy="1778199"/>
            <a:chOff x="4625975" y="4156870"/>
            <a:chExt cx="2495550" cy="2370930"/>
          </a:xfrm>
        </p:grpSpPr>
        <p:sp>
          <p:nvSpPr>
            <p:cNvPr id="22" name="Flowchart: Magnetic Disk 21"/>
            <p:cNvSpPr/>
            <p:nvPr/>
          </p:nvSpPr>
          <p:spPr>
            <a:xfrm>
              <a:off x="4625975" y="4156870"/>
              <a:ext cx="2495550" cy="2370930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>
                <a:latin typeface="Calibri (Body)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567883" y="5039915"/>
              <a:ext cx="321469" cy="321469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4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285581" y="5037931"/>
              <a:ext cx="321469" cy="321469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1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713015" y="5037931"/>
              <a:ext cx="321469" cy="321469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2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863060" y="5037931"/>
              <a:ext cx="321469" cy="321469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0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140449" y="5046266"/>
              <a:ext cx="321469" cy="321469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3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564310" y="5498864"/>
              <a:ext cx="321469" cy="32146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9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858145" y="5947966"/>
              <a:ext cx="321469" cy="32146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A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140449" y="5498863"/>
              <a:ext cx="321469" cy="32146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8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5713015" y="5492515"/>
              <a:ext cx="321469" cy="32146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7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285580" y="5494500"/>
              <a:ext cx="321469" cy="32146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6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4858146" y="5501245"/>
              <a:ext cx="321469" cy="321469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5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5250259" y="6179347"/>
              <a:ext cx="61115" cy="6111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>
                <a:latin typeface="Calibri (Body)"/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5381622" y="6179347"/>
              <a:ext cx="61115" cy="6111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>
                <a:latin typeface="Calibri (Body)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5516960" y="6179346"/>
              <a:ext cx="61115" cy="6111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>
                <a:latin typeface="Calibri (Body)"/>
              </a:endParaRPr>
            </a:p>
          </p:txBody>
        </p:sp>
      </p:grpSp>
      <p:sp>
        <p:nvSpPr>
          <p:cNvPr id="69" name="Text Placeholder 10"/>
          <p:cNvSpPr txBox="1">
            <a:spLocks/>
          </p:cNvSpPr>
          <p:nvPr/>
        </p:nvSpPr>
        <p:spPr>
          <a:xfrm>
            <a:off x="1538515" y="2939684"/>
            <a:ext cx="3360420" cy="548640"/>
          </a:xfrm>
          <a:prstGeom prst="rect">
            <a:avLst/>
          </a:prstGeom>
        </p:spPr>
        <p:txBody>
          <a:bodyPr vert="horz" lIns="68580" tIns="34291" rIns="68580" bIns="34291" rtlCol="0">
            <a:normAutofit/>
          </a:bodyPr>
          <a:lstStyle>
            <a:lvl1pPr marL="182875" indent="-182875" algn="l" defTabSz="914377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-182875" algn="l" defTabSz="914377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Ø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02" indent="-182875" algn="l" defTabSz="914377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Ø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15" indent="-182875" algn="l" defTabSz="914377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Ø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28" indent="-182875" algn="l" defTabSz="914377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Ø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9960" indent="-228594" algn="l" defTabSz="914377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899953" indent="-228594" algn="l" defTabSz="914377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199945" indent="-228594" algn="l" defTabSz="914377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99938" indent="-228594" algn="l" defTabSz="914377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51" b="1" i="1" dirty="0" err="1">
                <a:latin typeface="Calibri (Body)"/>
              </a:rPr>
              <a:t>Kontinualna</a:t>
            </a:r>
            <a:r>
              <a:rPr lang="en-US" sz="1351" b="1" i="1" dirty="0">
                <a:latin typeface="Calibri (Body)"/>
              </a:rPr>
              <a:t> </a:t>
            </a:r>
            <a:r>
              <a:rPr lang="en-US" sz="1351" b="1" i="1" dirty="0" err="1">
                <a:latin typeface="Calibri (Body)"/>
              </a:rPr>
              <a:t>alokacija</a:t>
            </a:r>
            <a:endParaRPr lang="en-US" sz="1351" b="1" i="1" dirty="0">
              <a:latin typeface="Calibri (Body)"/>
            </a:endParaRPr>
          </a:p>
        </p:txBody>
      </p:sp>
      <p:sp>
        <p:nvSpPr>
          <p:cNvPr id="70" name="Text Placeholder 10"/>
          <p:cNvSpPr txBox="1">
            <a:spLocks/>
          </p:cNvSpPr>
          <p:nvPr/>
        </p:nvSpPr>
        <p:spPr>
          <a:xfrm>
            <a:off x="5617547" y="2939684"/>
            <a:ext cx="3360420" cy="548640"/>
          </a:xfrm>
          <a:prstGeom prst="rect">
            <a:avLst/>
          </a:prstGeom>
        </p:spPr>
        <p:txBody>
          <a:bodyPr vert="horz" lIns="68580" tIns="34291" rIns="68580" bIns="34291" rtlCol="0">
            <a:normAutofit/>
          </a:bodyPr>
          <a:lstStyle>
            <a:lvl1pPr marL="182875" indent="-182875" algn="l" defTabSz="914377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-182875" algn="l" defTabSz="914377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Ø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02" indent="-182875" algn="l" defTabSz="914377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Ø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15" indent="-182875" algn="l" defTabSz="914377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Ø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28" indent="-182875" algn="l" defTabSz="914377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Ø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9960" indent="-228594" algn="l" defTabSz="914377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899953" indent="-228594" algn="l" defTabSz="914377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199945" indent="-228594" algn="l" defTabSz="914377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99938" indent="-228594" algn="l" defTabSz="914377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51" b="1" i="1" dirty="0">
                <a:latin typeface="Calibri (Body)"/>
              </a:rPr>
              <a:t>Ulan</a:t>
            </a:r>
            <a:r>
              <a:rPr lang="sr-Latn-RS" sz="1351" b="1" i="1" dirty="0">
                <a:latin typeface="Calibri (Body)"/>
              </a:rPr>
              <a:t>čana alokacija</a:t>
            </a:r>
            <a:endParaRPr lang="en-US" sz="1351" b="1" i="1" dirty="0">
              <a:latin typeface="Calibri (Body)"/>
            </a:endParaRPr>
          </a:p>
        </p:txBody>
      </p:sp>
      <p:cxnSp>
        <p:nvCxnSpPr>
          <p:cNvPr id="74" name="Curved Connector 73"/>
          <p:cNvCxnSpPr>
            <a:stCxn id="26" idx="0"/>
            <a:endCxn id="25" idx="0"/>
          </p:cNvCxnSpPr>
          <p:nvPr/>
        </p:nvCxnSpPr>
        <p:spPr>
          <a:xfrm rot="5400000" flipH="1" flipV="1">
            <a:off x="6979025" y="1356682"/>
            <a:ext cx="9525" cy="637467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6" name="Curved Connector 75"/>
          <p:cNvCxnSpPr>
            <a:stCxn id="25" idx="2"/>
            <a:endCxn id="33" idx="0"/>
          </p:cNvCxnSpPr>
          <p:nvPr/>
        </p:nvCxnSpPr>
        <p:spPr>
          <a:xfrm rot="5400000">
            <a:off x="6923990" y="1649134"/>
            <a:ext cx="106384" cy="641152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8" name="Curved Connector 77"/>
          <p:cNvCxnSpPr>
            <a:stCxn id="27" idx="0"/>
            <a:endCxn id="24" idx="0"/>
          </p:cNvCxnSpPr>
          <p:nvPr/>
        </p:nvCxnSpPr>
        <p:spPr>
          <a:xfrm rot="16200000" flipV="1">
            <a:off x="7294634" y="1357968"/>
            <a:ext cx="6251" cy="641151"/>
          </a:xfrm>
          <a:prstGeom prst="curvedConnector3">
            <a:avLst>
              <a:gd name="adj1" fmla="val 2842651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4281294" y="1631166"/>
            <a:ext cx="1009121" cy="77037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r>
              <a:rPr lang="en-US" sz="1351" dirty="0">
                <a:latin typeface="Calibri (Body)"/>
              </a:rPr>
              <a:t>FCB</a:t>
            </a:r>
          </a:p>
          <a:p>
            <a:pPr algn="ctr"/>
            <a:r>
              <a:rPr lang="en-US" sz="1051" dirty="0" err="1">
                <a:latin typeface="Calibri (Body)"/>
              </a:rPr>
              <a:t>first_blk</a:t>
            </a:r>
            <a:r>
              <a:rPr lang="en-US" sz="1051" dirty="0">
                <a:latin typeface="Calibri (Body)"/>
              </a:rPr>
              <a:t> </a:t>
            </a:r>
            <a:r>
              <a:rPr lang="en-US" sz="1051" dirty="0">
                <a:latin typeface="Calibri (Body)"/>
              </a:rPr>
              <a:t>= 3</a:t>
            </a:r>
          </a:p>
          <a:p>
            <a:pPr algn="ctr"/>
            <a:r>
              <a:rPr lang="en-US" sz="1051" dirty="0">
                <a:latin typeface="Calibri (Body)"/>
              </a:rPr>
              <a:t>size = 2 </a:t>
            </a:r>
            <a:r>
              <a:rPr lang="en-US" sz="1051" dirty="0" err="1">
                <a:latin typeface="Calibri (Body)"/>
              </a:rPr>
              <a:t>blks</a:t>
            </a:r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8364678" y="1631166"/>
            <a:ext cx="1009121" cy="77037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r>
              <a:rPr lang="en-US" sz="1351" dirty="0">
                <a:latin typeface="Calibri (Body)"/>
              </a:rPr>
              <a:t>FCB</a:t>
            </a:r>
          </a:p>
          <a:p>
            <a:pPr algn="ctr"/>
            <a:r>
              <a:rPr lang="en-US" sz="1051" dirty="0" err="1">
                <a:latin typeface="Calibri (Body)"/>
              </a:rPr>
              <a:t>head_blk</a:t>
            </a:r>
            <a:r>
              <a:rPr lang="en-US" sz="1051" dirty="0">
                <a:latin typeface="Calibri (Body)"/>
              </a:rPr>
              <a:t> </a:t>
            </a:r>
            <a:r>
              <a:rPr lang="en-US" sz="1051" dirty="0">
                <a:latin typeface="Calibri (Body)"/>
              </a:rPr>
              <a:t>= 3</a:t>
            </a:r>
          </a:p>
          <a:p>
            <a:pPr algn="ctr"/>
            <a:r>
              <a:rPr lang="en-US" sz="1051" dirty="0">
                <a:latin typeface="Calibri (Body)"/>
              </a:rPr>
              <a:t>size = 2 </a:t>
            </a:r>
            <a:r>
              <a:rPr lang="en-US" sz="1051" dirty="0" err="1">
                <a:latin typeface="Calibri (Body)"/>
              </a:rPr>
              <a:t>blks</a:t>
            </a:r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</p:txBody>
      </p:sp>
      <p:sp>
        <p:nvSpPr>
          <p:cNvPr id="62" name="Text Placeholder 10"/>
          <p:cNvSpPr txBox="1">
            <a:spLocks/>
          </p:cNvSpPr>
          <p:nvPr/>
        </p:nvSpPr>
        <p:spPr>
          <a:xfrm>
            <a:off x="1534885" y="5452500"/>
            <a:ext cx="3360420" cy="548640"/>
          </a:xfrm>
          <a:prstGeom prst="rect">
            <a:avLst/>
          </a:prstGeom>
        </p:spPr>
        <p:txBody>
          <a:bodyPr vert="horz" lIns="68580" tIns="34291" rIns="68580" bIns="34291" rtlCol="0">
            <a:normAutofit/>
          </a:bodyPr>
          <a:lstStyle>
            <a:lvl1pPr marL="182875" indent="-182875" algn="l" defTabSz="914377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-182875" algn="l" defTabSz="914377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Ø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02" indent="-182875" algn="l" defTabSz="914377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Ø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15" indent="-182875" algn="l" defTabSz="914377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Ø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28" indent="-182875" algn="l" defTabSz="914377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Ø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9960" indent="-228594" algn="l" defTabSz="914377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899953" indent="-228594" algn="l" defTabSz="914377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199945" indent="-228594" algn="l" defTabSz="914377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99938" indent="-228594" algn="l" defTabSz="914377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51" b="1" i="1" dirty="0" err="1">
                <a:latin typeface="Calibri (Body)"/>
              </a:rPr>
              <a:t>Indeksna</a:t>
            </a:r>
            <a:r>
              <a:rPr lang="en-US" sz="1351" b="1" i="1" dirty="0">
                <a:latin typeface="Calibri (Body)"/>
              </a:rPr>
              <a:t> </a:t>
            </a:r>
            <a:r>
              <a:rPr lang="en-US" sz="1351" b="1" i="1" dirty="0" err="1">
                <a:latin typeface="Calibri (Body)"/>
              </a:rPr>
              <a:t>alokacija</a:t>
            </a:r>
            <a:endParaRPr lang="en-US" sz="1351" b="1" i="1" dirty="0">
              <a:latin typeface="Calibri (Body)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4277663" y="4143982"/>
            <a:ext cx="1009121" cy="77037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r>
              <a:rPr lang="en-US" sz="1351" dirty="0">
                <a:latin typeface="Calibri (Body)"/>
              </a:rPr>
              <a:t>FCB</a:t>
            </a:r>
          </a:p>
          <a:p>
            <a:pPr algn="ctr"/>
            <a:r>
              <a:rPr lang="en-US" sz="1051" dirty="0" err="1">
                <a:latin typeface="Calibri (Body)"/>
              </a:rPr>
              <a:t>index_blk</a:t>
            </a:r>
            <a:r>
              <a:rPr lang="en-US" sz="1051" dirty="0">
                <a:latin typeface="Calibri (Body)"/>
              </a:rPr>
              <a:t> </a:t>
            </a:r>
            <a:r>
              <a:rPr lang="en-US" sz="1051" dirty="0">
                <a:latin typeface="Calibri (Body)"/>
              </a:rPr>
              <a:t>= 7</a:t>
            </a:r>
          </a:p>
          <a:p>
            <a:pPr algn="ctr"/>
            <a:r>
              <a:rPr lang="en-US" sz="1051" dirty="0">
                <a:latin typeface="Calibri (Body)"/>
              </a:rPr>
              <a:t>size = 2 </a:t>
            </a:r>
            <a:r>
              <a:rPr lang="en-US" sz="1051" dirty="0" err="1">
                <a:latin typeface="Calibri (Body)"/>
              </a:rPr>
              <a:t>blks</a:t>
            </a:r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</p:txBody>
      </p:sp>
      <p:grpSp>
        <p:nvGrpSpPr>
          <p:cNvPr id="64" name="Group 63"/>
          <p:cNvGrpSpPr/>
          <p:nvPr/>
        </p:nvGrpSpPr>
        <p:grpSpPr>
          <a:xfrm>
            <a:off x="2279264" y="3460214"/>
            <a:ext cx="1871663" cy="1778199"/>
            <a:chOff x="4625975" y="4156870"/>
            <a:chExt cx="2495550" cy="2370930"/>
          </a:xfrm>
        </p:grpSpPr>
        <p:sp>
          <p:nvSpPr>
            <p:cNvPr id="65" name="Flowchart: Magnetic Disk 64"/>
            <p:cNvSpPr/>
            <p:nvPr/>
          </p:nvSpPr>
          <p:spPr>
            <a:xfrm>
              <a:off x="4625975" y="4156870"/>
              <a:ext cx="2495550" cy="2370930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>
                <a:latin typeface="Calibri (Body)"/>
              </a:endParaRP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6567883" y="5039915"/>
              <a:ext cx="321469" cy="321469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4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5285581" y="5037931"/>
              <a:ext cx="321469" cy="321469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1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5713015" y="5037931"/>
              <a:ext cx="321469" cy="321469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2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4863060" y="5037931"/>
              <a:ext cx="321469" cy="321469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0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6140449" y="5046266"/>
              <a:ext cx="321469" cy="321469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3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6564310" y="5498864"/>
              <a:ext cx="321469" cy="32146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9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4858145" y="5947966"/>
              <a:ext cx="321469" cy="32146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A</a:t>
              </a: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6140449" y="5498863"/>
              <a:ext cx="321469" cy="321469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8</a:t>
              </a: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5713015" y="5492515"/>
              <a:ext cx="321469" cy="321469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7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5285580" y="5494500"/>
              <a:ext cx="321469" cy="321469"/>
            </a:xfrm>
            <a:prstGeom prst="rect">
              <a:avLst/>
            </a:prstGeom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6</a:t>
              </a: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4858146" y="5501245"/>
              <a:ext cx="321469" cy="321469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5</a:t>
              </a:r>
            </a:p>
          </p:txBody>
        </p:sp>
        <p:sp>
          <p:nvSpPr>
            <p:cNvPr id="82" name="Oval 81"/>
            <p:cNvSpPr/>
            <p:nvPr/>
          </p:nvSpPr>
          <p:spPr>
            <a:xfrm>
              <a:off x="5250259" y="6179347"/>
              <a:ext cx="61115" cy="6111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>
                <a:latin typeface="Calibri (Body)"/>
              </a:endParaRPr>
            </a:p>
          </p:txBody>
        </p:sp>
        <p:sp>
          <p:nvSpPr>
            <p:cNvPr id="83" name="Oval 82"/>
            <p:cNvSpPr/>
            <p:nvPr/>
          </p:nvSpPr>
          <p:spPr>
            <a:xfrm>
              <a:off x="5381622" y="6179347"/>
              <a:ext cx="61115" cy="6111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>
                <a:latin typeface="Calibri (Body)"/>
              </a:endParaRPr>
            </a:p>
          </p:txBody>
        </p:sp>
        <p:sp>
          <p:nvSpPr>
            <p:cNvPr id="84" name="Oval 83"/>
            <p:cNvSpPr/>
            <p:nvPr/>
          </p:nvSpPr>
          <p:spPr>
            <a:xfrm>
              <a:off x="5516960" y="6179346"/>
              <a:ext cx="61115" cy="6111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>
                <a:latin typeface="Calibri (Body)"/>
              </a:endParaRPr>
            </a:p>
          </p:txBody>
        </p:sp>
      </p:grpSp>
      <p:cxnSp>
        <p:nvCxnSpPr>
          <p:cNvPr id="41" name="Straight Arrow Connector 40"/>
          <p:cNvCxnSpPr>
            <a:stCxn id="79" idx="1"/>
          </p:cNvCxnSpPr>
          <p:nvPr/>
        </p:nvCxnSpPr>
        <p:spPr>
          <a:xfrm flipH="1" flipV="1">
            <a:off x="2125679" y="4247815"/>
            <a:ext cx="968864" cy="3346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5" name="Rectangle 84"/>
          <p:cNvSpPr/>
          <p:nvPr/>
        </p:nvSpPr>
        <p:spPr>
          <a:xfrm>
            <a:off x="1495035" y="3947206"/>
            <a:ext cx="592443" cy="17126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r>
              <a:rPr lang="en-US" sz="1100" dirty="0">
                <a:latin typeface="Calibri (Body)"/>
              </a:rPr>
              <a:t>Index Block</a:t>
            </a:r>
          </a:p>
          <a:p>
            <a:pPr algn="ctr"/>
            <a:r>
              <a:rPr lang="en-US" sz="1351" dirty="0">
                <a:latin typeface="Calibri (Body)"/>
              </a:rPr>
              <a:t>03</a:t>
            </a:r>
          </a:p>
          <a:p>
            <a:pPr algn="ctr"/>
            <a:r>
              <a:rPr lang="en-US" sz="1351" dirty="0">
                <a:latin typeface="Calibri (Body)"/>
              </a:rPr>
              <a:t>01</a:t>
            </a:r>
          </a:p>
          <a:p>
            <a:pPr algn="ctr"/>
            <a:r>
              <a:rPr lang="en-US" sz="1351" dirty="0">
                <a:latin typeface="Calibri (Body)"/>
              </a:rPr>
              <a:t>-1</a:t>
            </a:r>
          </a:p>
          <a:p>
            <a:pPr algn="ctr"/>
            <a:r>
              <a:rPr lang="en-US" sz="1351" dirty="0">
                <a:latin typeface="Calibri (Body)"/>
              </a:rPr>
              <a:t>-1</a:t>
            </a:r>
          </a:p>
          <a:p>
            <a:pPr algn="ctr"/>
            <a:r>
              <a:rPr lang="en-US" sz="1351" dirty="0">
                <a:latin typeface="Calibri (Body)"/>
              </a:rPr>
              <a:t>-1</a:t>
            </a:r>
          </a:p>
          <a:p>
            <a:pPr algn="ctr"/>
            <a:r>
              <a:rPr lang="en-US" sz="1351" dirty="0">
                <a:latin typeface="Calibri (Body)"/>
              </a:rPr>
              <a:t>...</a:t>
            </a: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</p:txBody>
      </p:sp>
      <p:sp>
        <p:nvSpPr>
          <p:cNvPr id="86" name="Text Placeholder 10"/>
          <p:cNvSpPr txBox="1">
            <a:spLocks/>
          </p:cNvSpPr>
          <p:nvPr/>
        </p:nvSpPr>
        <p:spPr>
          <a:xfrm>
            <a:off x="5636053" y="5341512"/>
            <a:ext cx="3360420" cy="548640"/>
          </a:xfrm>
          <a:prstGeom prst="rect">
            <a:avLst/>
          </a:prstGeom>
        </p:spPr>
        <p:txBody>
          <a:bodyPr vert="horz" lIns="68580" tIns="34291" rIns="68580" bIns="34291" rtlCol="0">
            <a:normAutofit/>
          </a:bodyPr>
          <a:lstStyle>
            <a:lvl1pPr marL="182875" indent="-182875" algn="l" defTabSz="914377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-182875" algn="l" defTabSz="914377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Ø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02" indent="-182875" algn="l" defTabSz="914377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Ø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15" indent="-182875" algn="l" defTabSz="914377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Ø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28" indent="-182875" algn="l" defTabSz="914377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Ø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9960" indent="-228594" algn="l" defTabSz="914377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899953" indent="-228594" algn="l" defTabSz="914377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199945" indent="-228594" algn="l" defTabSz="914377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99938" indent="-228594" algn="l" defTabSz="914377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51" b="1" i="1" dirty="0" err="1">
                <a:latin typeface="Calibri (Body)"/>
              </a:rPr>
              <a:t>Kombinovana</a:t>
            </a:r>
            <a:r>
              <a:rPr lang="en-US" sz="1351" b="1" i="1" dirty="0">
                <a:latin typeface="Calibri (Body)"/>
              </a:rPr>
              <a:t> </a:t>
            </a:r>
            <a:r>
              <a:rPr lang="en-US" sz="1351" b="1" i="1" dirty="0" err="1">
                <a:latin typeface="Calibri (Body)"/>
              </a:rPr>
              <a:t>alokacija</a:t>
            </a:r>
            <a:r>
              <a:rPr lang="en-US" sz="1351" b="1" i="1" dirty="0">
                <a:latin typeface="Calibri (Body)"/>
              </a:rPr>
              <a:t/>
            </a:r>
            <a:br>
              <a:rPr lang="en-US" sz="1351" b="1" i="1" dirty="0">
                <a:latin typeface="Calibri (Body)"/>
              </a:rPr>
            </a:br>
            <a:r>
              <a:rPr lang="en-US" sz="1351" b="1" i="1" dirty="0">
                <a:latin typeface="Calibri (Body)"/>
              </a:rPr>
              <a:t>(</a:t>
            </a:r>
            <a:r>
              <a:rPr lang="en-US" sz="1351" b="1" i="1" dirty="0" err="1">
                <a:latin typeface="Calibri (Body)"/>
              </a:rPr>
              <a:t>mo</a:t>
            </a:r>
            <a:r>
              <a:rPr lang="sr-Latn-RS" sz="1351" b="1" i="1" dirty="0">
                <a:latin typeface="Calibri (Body)"/>
              </a:rPr>
              <a:t>že i u više nivoa ako je fajl veći)</a:t>
            </a:r>
            <a:endParaRPr lang="en-US" sz="1351" b="1" i="1" dirty="0">
              <a:latin typeface="Calibri (Body)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8470664" y="3651137"/>
            <a:ext cx="1009121" cy="48598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r>
              <a:rPr lang="en-US" sz="1351" dirty="0">
                <a:latin typeface="Calibri (Body)"/>
              </a:rPr>
              <a:t>FCB</a:t>
            </a:r>
          </a:p>
          <a:p>
            <a:pPr algn="ctr"/>
            <a:r>
              <a:rPr lang="en-US" sz="1051" dirty="0">
                <a:latin typeface="Calibri (Body)"/>
              </a:rPr>
              <a:t>...</a:t>
            </a:r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6357900" y="3535678"/>
            <a:ext cx="1871663" cy="1778199"/>
            <a:chOff x="6029328" y="3533211"/>
            <a:chExt cx="2495550" cy="2370930"/>
          </a:xfrm>
        </p:grpSpPr>
        <p:sp>
          <p:nvSpPr>
            <p:cNvPr id="106" name="Flowchart: Magnetic Disk 105"/>
            <p:cNvSpPr/>
            <p:nvPr/>
          </p:nvSpPr>
          <p:spPr>
            <a:xfrm>
              <a:off x="6029328" y="3533211"/>
              <a:ext cx="2495550" cy="2370930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>
                <a:latin typeface="Calibri (Body)"/>
              </a:endParaRPr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7971236" y="4416256"/>
              <a:ext cx="321469" cy="321469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4</a:t>
              </a: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6688934" y="4414272"/>
              <a:ext cx="321469" cy="321469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1</a:t>
              </a:r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7116368" y="4414272"/>
              <a:ext cx="321469" cy="321469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2</a:t>
              </a:r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6266413" y="4414272"/>
              <a:ext cx="321469" cy="321469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0</a:t>
              </a:r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7543802" y="4422607"/>
              <a:ext cx="321469" cy="321469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3</a:t>
              </a:r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7967663" y="4875205"/>
              <a:ext cx="321469" cy="32146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9</a:t>
              </a:r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6261498" y="5324307"/>
              <a:ext cx="321469" cy="32146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A</a:t>
              </a:r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7543802" y="4875204"/>
              <a:ext cx="321469" cy="32146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8</a:t>
              </a:r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7116368" y="4868856"/>
              <a:ext cx="321469" cy="32146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7</a:t>
              </a:r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6688933" y="4870841"/>
              <a:ext cx="321469" cy="32146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6</a:t>
              </a:r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6261499" y="4877586"/>
              <a:ext cx="321469" cy="321469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5</a:t>
              </a:r>
            </a:p>
          </p:txBody>
        </p:sp>
        <p:sp>
          <p:nvSpPr>
            <p:cNvPr id="118" name="Oval 117"/>
            <p:cNvSpPr/>
            <p:nvPr/>
          </p:nvSpPr>
          <p:spPr>
            <a:xfrm>
              <a:off x="6653612" y="5555688"/>
              <a:ext cx="61115" cy="6111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>
                <a:latin typeface="Calibri (Body)"/>
              </a:endParaRPr>
            </a:p>
          </p:txBody>
        </p:sp>
        <p:sp>
          <p:nvSpPr>
            <p:cNvPr id="119" name="Oval 118"/>
            <p:cNvSpPr/>
            <p:nvPr/>
          </p:nvSpPr>
          <p:spPr>
            <a:xfrm>
              <a:off x="6784975" y="5555688"/>
              <a:ext cx="61115" cy="6111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>
                <a:latin typeface="Calibri (Body)"/>
              </a:endParaRPr>
            </a:p>
          </p:txBody>
        </p:sp>
        <p:sp>
          <p:nvSpPr>
            <p:cNvPr id="120" name="Oval 119"/>
            <p:cNvSpPr/>
            <p:nvPr/>
          </p:nvSpPr>
          <p:spPr>
            <a:xfrm>
              <a:off x="6920313" y="5555687"/>
              <a:ext cx="61115" cy="6111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>
                <a:latin typeface="Calibri (Body)"/>
              </a:endParaRPr>
            </a:p>
          </p:txBody>
        </p:sp>
      </p:grpSp>
      <p:sp>
        <p:nvSpPr>
          <p:cNvPr id="121" name="Rectangle 120"/>
          <p:cNvSpPr/>
          <p:nvPr/>
        </p:nvSpPr>
        <p:spPr>
          <a:xfrm>
            <a:off x="8470664" y="4137121"/>
            <a:ext cx="1009121" cy="72826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03</a:t>
            </a:r>
          </a:p>
          <a:p>
            <a:pPr algn="ctr"/>
            <a:r>
              <a:rPr lang="en-US" sz="1351" dirty="0">
                <a:latin typeface="Calibri (Body)"/>
              </a:rPr>
              <a:t>01</a:t>
            </a:r>
          </a:p>
          <a:p>
            <a:pPr algn="ctr"/>
            <a:r>
              <a:rPr lang="en-US" sz="1351" dirty="0">
                <a:latin typeface="Calibri (Body)"/>
              </a:rPr>
              <a:t>-1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470664" y="4865388"/>
            <a:ext cx="1009121" cy="25020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0000" lnSpcReduction="20000"/>
          </a:bodyPr>
          <a:lstStyle/>
          <a:p>
            <a:fld id="{49F83D39-FACF-43C7-9C4E-3C002A13A54D}" type="slidenum">
              <a:rPr lang="en-US" smtClean="0"/>
              <a:pPr/>
              <a:t>10</a:t>
            </a:fld>
            <a:r>
              <a:rPr lang="en-US" smtClean="0"/>
              <a:t>/17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797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0" grpId="0"/>
      <p:bldP spid="39" grpId="0" animBg="1"/>
      <p:bldP spid="45" grpId="0" animBg="1"/>
      <p:bldP spid="62" grpId="0"/>
      <p:bldP spid="63" grpId="0" animBg="1"/>
      <p:bldP spid="85" grpId="0" animBg="1"/>
      <p:bldP spid="86" grpId="0"/>
      <p:bldP spid="87" grpId="0" animBg="1"/>
      <p:bldP spid="121" grpId="0" animBg="1"/>
      <p:bldP spid="1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FAT - File Allocation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1597" y="1691322"/>
            <a:ext cx="6851569" cy="4351337"/>
          </a:xfrm>
        </p:spPr>
        <p:txBody>
          <a:bodyPr/>
          <a:lstStyle/>
          <a:p>
            <a:r>
              <a:rPr lang="en-US" dirty="0" err="1" smtClean="0"/>
              <a:t>Jedan</a:t>
            </a:r>
            <a:r>
              <a:rPr lang="en-US" dirty="0" smtClean="0"/>
              <a:t> od </a:t>
            </a:r>
            <a:r>
              <a:rPr lang="en-US" dirty="0" err="1" smtClean="0"/>
              <a:t>najstarijih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najjednostavnijih</a:t>
            </a:r>
            <a:r>
              <a:rPr lang="en-US" dirty="0" smtClean="0"/>
              <a:t> </a:t>
            </a:r>
            <a:r>
              <a:rPr lang="en-US" dirty="0" err="1" smtClean="0"/>
              <a:t>fajl</a:t>
            </a:r>
            <a:r>
              <a:rPr lang="en-US" dirty="0" smtClean="0"/>
              <a:t> </a:t>
            </a:r>
            <a:r>
              <a:rPr lang="en-US" dirty="0" err="1" smtClean="0"/>
              <a:t>sistema</a:t>
            </a:r>
            <a:r>
              <a:rPr lang="en-US" dirty="0" smtClean="0"/>
              <a:t>.</a:t>
            </a:r>
          </a:p>
          <a:p>
            <a:r>
              <a:rPr lang="sr-Latn-RS" dirty="0" smtClean="0"/>
              <a:t>Tabela </a:t>
            </a:r>
          </a:p>
          <a:p>
            <a:pPr lvl="1"/>
            <a:r>
              <a:rPr lang="sr-Latn-RS" dirty="0" smtClean="0"/>
              <a:t>ima ulaza koliko i blokova na disku</a:t>
            </a:r>
          </a:p>
          <a:p>
            <a:pPr lvl="1"/>
            <a:r>
              <a:rPr lang="sr-Latn-RS" dirty="0" smtClean="0"/>
              <a:t>ulazi su </a:t>
            </a:r>
            <a:r>
              <a:rPr lang="sr-Latn-RS" b="1" dirty="0" smtClean="0"/>
              <a:t>ulančani</a:t>
            </a:r>
            <a:r>
              <a:rPr lang="sr-Latn-RS" dirty="0" smtClean="0"/>
              <a:t> koristeći indekse</a:t>
            </a:r>
          </a:p>
          <a:p>
            <a:pPr marL="0" indent="0">
              <a:buNone/>
            </a:pPr>
            <a:endParaRPr lang="sr-Latn-R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49F83D39-FACF-43C7-9C4E-3C002A13A54D}" type="slidenum">
              <a:rPr lang="en-US" smtClean="0"/>
              <a:pPr/>
              <a:t>11</a:t>
            </a:fld>
            <a:r>
              <a:rPr lang="en-US" smtClean="0"/>
              <a:t>/17</a:t>
            </a:r>
            <a:endParaRPr lang="en-US" dirty="0"/>
          </a:p>
        </p:txBody>
      </p:sp>
      <p:grpSp>
        <p:nvGrpSpPr>
          <p:cNvPr id="27" name="Group 26"/>
          <p:cNvGrpSpPr/>
          <p:nvPr/>
        </p:nvGrpSpPr>
        <p:grpSpPr>
          <a:xfrm>
            <a:off x="7868223" y="3993059"/>
            <a:ext cx="1871663" cy="1778199"/>
            <a:chOff x="4625975" y="4156870"/>
            <a:chExt cx="2495550" cy="2370930"/>
          </a:xfrm>
        </p:grpSpPr>
        <p:sp>
          <p:nvSpPr>
            <p:cNvPr id="28" name="Flowchart: Magnetic Disk 27"/>
            <p:cNvSpPr/>
            <p:nvPr/>
          </p:nvSpPr>
          <p:spPr>
            <a:xfrm>
              <a:off x="4625975" y="4156870"/>
              <a:ext cx="2495550" cy="2370930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>
                <a:latin typeface="Calibri (Body)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567883" y="5039915"/>
              <a:ext cx="321469" cy="321469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4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285581" y="5037931"/>
              <a:ext cx="321469" cy="321469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1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5713015" y="5037931"/>
              <a:ext cx="321469" cy="321469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2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863060" y="5037931"/>
              <a:ext cx="321469" cy="321469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0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140449" y="5046266"/>
              <a:ext cx="321469" cy="321469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3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564310" y="5498864"/>
              <a:ext cx="321469" cy="32146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9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4858145" y="5947966"/>
              <a:ext cx="321469" cy="321469"/>
            </a:xfrm>
            <a:prstGeom prst="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A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140449" y="5498863"/>
              <a:ext cx="321469" cy="32146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8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5713015" y="5492515"/>
              <a:ext cx="321469" cy="32146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7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5285580" y="5494500"/>
              <a:ext cx="321469" cy="32146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6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858146" y="5501245"/>
              <a:ext cx="321469" cy="321469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5</a:t>
              </a:r>
            </a:p>
          </p:txBody>
        </p:sp>
        <p:sp>
          <p:nvSpPr>
            <p:cNvPr id="40" name="Oval 39"/>
            <p:cNvSpPr/>
            <p:nvPr/>
          </p:nvSpPr>
          <p:spPr>
            <a:xfrm>
              <a:off x="5250259" y="6179347"/>
              <a:ext cx="61115" cy="6111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>
                <a:latin typeface="Calibri (Body)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5381622" y="6179347"/>
              <a:ext cx="61115" cy="6111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>
                <a:latin typeface="Calibri (Body)"/>
              </a:endParaRPr>
            </a:p>
          </p:txBody>
        </p:sp>
        <p:sp>
          <p:nvSpPr>
            <p:cNvPr id="42" name="Oval 41"/>
            <p:cNvSpPr/>
            <p:nvPr/>
          </p:nvSpPr>
          <p:spPr>
            <a:xfrm>
              <a:off x="5516960" y="6179346"/>
              <a:ext cx="61115" cy="6111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>
                <a:latin typeface="Calibri (Body)"/>
              </a:endParaRPr>
            </a:p>
          </p:txBody>
        </p:sp>
      </p:grpSp>
      <p:cxnSp>
        <p:nvCxnSpPr>
          <p:cNvPr id="43" name="Curved Connector 42"/>
          <p:cNvCxnSpPr>
            <a:stCxn id="32" idx="0"/>
            <a:endCxn id="31" idx="0"/>
          </p:cNvCxnSpPr>
          <p:nvPr/>
        </p:nvCxnSpPr>
        <p:spPr>
          <a:xfrm rot="5400000" flipH="1" flipV="1">
            <a:off x="8485320" y="4335123"/>
            <a:ext cx="9525" cy="637467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4" name="Curved Connector 43"/>
          <p:cNvCxnSpPr>
            <a:stCxn id="31" idx="2"/>
            <a:endCxn id="39" idx="0"/>
          </p:cNvCxnSpPr>
          <p:nvPr/>
        </p:nvCxnSpPr>
        <p:spPr>
          <a:xfrm rot="5400000">
            <a:off x="8430287" y="4627573"/>
            <a:ext cx="106384" cy="641152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5" name="Curved Connector 44"/>
          <p:cNvCxnSpPr>
            <a:stCxn id="33" idx="0"/>
            <a:endCxn id="30" idx="0"/>
          </p:cNvCxnSpPr>
          <p:nvPr/>
        </p:nvCxnSpPr>
        <p:spPr>
          <a:xfrm rot="16200000" flipV="1">
            <a:off x="8800929" y="4336409"/>
            <a:ext cx="6251" cy="641151"/>
          </a:xfrm>
          <a:prstGeom prst="curvedConnector3">
            <a:avLst>
              <a:gd name="adj1" fmla="val 2842651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35" idx="1"/>
          </p:cNvCxnSpPr>
          <p:nvPr/>
        </p:nvCxnSpPr>
        <p:spPr>
          <a:xfrm flipH="1" flipV="1">
            <a:off x="6461990" y="4378302"/>
            <a:ext cx="1580361" cy="10786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5141077" y="4369718"/>
            <a:ext cx="1233761" cy="25003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41077" y="4619749"/>
            <a:ext cx="1233761" cy="25003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-1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41077" y="4869779"/>
            <a:ext cx="1233761" cy="25003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41077" y="5119810"/>
            <a:ext cx="1233761" cy="25003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41077" y="5369842"/>
            <a:ext cx="1233761" cy="2500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-1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41077" y="5619874"/>
            <a:ext cx="1233761" cy="25003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-1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141077" y="5869905"/>
            <a:ext cx="1233761" cy="2500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-7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42254" y="4369718"/>
            <a:ext cx="278765" cy="2500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842254" y="4619749"/>
            <a:ext cx="278765" cy="2500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842254" y="4869779"/>
            <a:ext cx="278765" cy="2500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842254" y="5119810"/>
            <a:ext cx="278765" cy="2500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42254" y="5369842"/>
            <a:ext cx="278765" cy="2500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842254" y="5619874"/>
            <a:ext cx="278765" cy="2500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42254" y="5869905"/>
            <a:ext cx="278765" cy="2500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476565" y="4378304"/>
            <a:ext cx="1009121" cy="77037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r>
              <a:rPr lang="en-US" sz="1351" dirty="0">
                <a:latin typeface="Calibri (Body)"/>
              </a:rPr>
              <a:t>FCB</a:t>
            </a:r>
          </a:p>
          <a:p>
            <a:pPr algn="ctr"/>
            <a:r>
              <a:rPr lang="en-US" sz="1051" dirty="0" err="1">
                <a:latin typeface="Calibri (Body)"/>
              </a:rPr>
              <a:t>head_idx</a:t>
            </a:r>
            <a:r>
              <a:rPr lang="en-US" sz="1051" dirty="0">
                <a:latin typeface="Calibri (Body)"/>
              </a:rPr>
              <a:t> </a:t>
            </a:r>
            <a:r>
              <a:rPr lang="en-US" sz="1051" dirty="0">
                <a:latin typeface="Calibri (Body)"/>
              </a:rPr>
              <a:t>= 3</a:t>
            </a:r>
          </a:p>
          <a:p>
            <a:pPr algn="ctr"/>
            <a:r>
              <a:rPr lang="en-US" sz="1051" dirty="0">
                <a:latin typeface="Calibri (Body)"/>
              </a:rPr>
              <a:t>size = 2 </a:t>
            </a:r>
            <a:r>
              <a:rPr lang="en-US" sz="1051" dirty="0" err="1">
                <a:latin typeface="Calibri (Body)"/>
              </a:rPr>
              <a:t>blks</a:t>
            </a:r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3617368" y="4378304"/>
            <a:ext cx="1009121" cy="77037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r>
              <a:rPr lang="en-US" sz="1351" dirty="0">
                <a:latin typeface="Calibri (Body)"/>
              </a:rPr>
              <a:t>FCB</a:t>
            </a:r>
          </a:p>
          <a:p>
            <a:pPr algn="ctr"/>
            <a:r>
              <a:rPr lang="en-US" sz="1051" dirty="0" err="1">
                <a:latin typeface="Calibri (Body)"/>
              </a:rPr>
              <a:t>head_idx</a:t>
            </a:r>
            <a:r>
              <a:rPr lang="en-US" sz="1051" dirty="0">
                <a:latin typeface="Calibri (Body)"/>
              </a:rPr>
              <a:t> </a:t>
            </a:r>
            <a:r>
              <a:rPr lang="en-US" sz="1051" dirty="0">
                <a:latin typeface="Calibri (Body)"/>
              </a:rPr>
              <a:t>= 0</a:t>
            </a:r>
          </a:p>
          <a:p>
            <a:pPr algn="ctr"/>
            <a:r>
              <a:rPr lang="en-US" sz="1051" dirty="0">
                <a:latin typeface="Calibri (Body)"/>
              </a:rPr>
              <a:t>size = 3 </a:t>
            </a:r>
            <a:r>
              <a:rPr lang="en-US" sz="1051" dirty="0" err="1">
                <a:latin typeface="Calibri (Body)"/>
              </a:rPr>
              <a:t>blks</a:t>
            </a:r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2476565" y="5226195"/>
            <a:ext cx="1009121" cy="77037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r>
              <a:rPr lang="en-US" sz="1351" dirty="0">
                <a:latin typeface="Calibri (Body)"/>
              </a:rPr>
              <a:t>FCB</a:t>
            </a:r>
          </a:p>
          <a:p>
            <a:pPr algn="ctr"/>
            <a:r>
              <a:rPr lang="en-US" sz="1051" dirty="0" err="1">
                <a:latin typeface="Calibri (Body)"/>
              </a:rPr>
              <a:t>head_idx</a:t>
            </a:r>
            <a:r>
              <a:rPr lang="en-US" sz="1051" dirty="0">
                <a:latin typeface="Calibri (Body)"/>
              </a:rPr>
              <a:t> </a:t>
            </a:r>
            <a:r>
              <a:rPr lang="en-US" sz="1051" dirty="0">
                <a:latin typeface="Calibri (Body)"/>
              </a:rPr>
              <a:t>= 4</a:t>
            </a:r>
          </a:p>
          <a:p>
            <a:pPr algn="ctr"/>
            <a:r>
              <a:rPr lang="en-US" sz="1051" dirty="0">
                <a:latin typeface="Calibri (Body)"/>
              </a:rPr>
              <a:t>size = 1 </a:t>
            </a:r>
            <a:r>
              <a:rPr lang="en-US" sz="1051" dirty="0" err="1">
                <a:latin typeface="Calibri (Body)"/>
              </a:rPr>
              <a:t>blks</a:t>
            </a:r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3620722" y="5234683"/>
            <a:ext cx="1009121" cy="77037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r>
              <a:rPr lang="en-US" sz="1351" dirty="0">
                <a:latin typeface="Calibri (Body)"/>
              </a:rPr>
              <a:t>FREE BLOCKS</a:t>
            </a:r>
          </a:p>
          <a:p>
            <a:pPr algn="ctr"/>
            <a:r>
              <a:rPr lang="en-US" sz="1351" dirty="0">
                <a:latin typeface="Calibri (Body)"/>
              </a:rPr>
              <a:t>head = 6</a:t>
            </a: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706487" y="5901455"/>
            <a:ext cx="419513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alibri (Body)"/>
              </a:rPr>
              <a:t>U </a:t>
            </a:r>
            <a:r>
              <a:rPr lang="en-US" sz="900" dirty="0" err="1">
                <a:latin typeface="Calibri (Body)"/>
              </a:rPr>
              <a:t>ovom</a:t>
            </a:r>
            <a:r>
              <a:rPr lang="en-US" sz="900" dirty="0">
                <a:latin typeface="Calibri (Body)"/>
              </a:rPr>
              <a:t> </a:t>
            </a:r>
            <a:r>
              <a:rPr lang="en-US" sz="900" dirty="0" err="1">
                <a:latin typeface="Calibri (Body)"/>
              </a:rPr>
              <a:t>slu</a:t>
            </a:r>
            <a:r>
              <a:rPr lang="sr-Latn-RS" sz="900" dirty="0">
                <a:latin typeface="Calibri (Body)"/>
              </a:rPr>
              <a:t>čaju, strelice ne označavaju pokazivače,</a:t>
            </a:r>
            <a:br>
              <a:rPr lang="sr-Latn-RS" sz="900" dirty="0">
                <a:latin typeface="Calibri (Body)"/>
              </a:rPr>
            </a:br>
            <a:r>
              <a:rPr lang="sr-Latn-RS" sz="900" dirty="0">
                <a:latin typeface="Calibri (Body)"/>
              </a:rPr>
              <a:t>već kako su blokovi logički uvezani pomoću tabele</a:t>
            </a:r>
            <a:r>
              <a:rPr lang="en-US" sz="900" dirty="0">
                <a:latin typeface="Calibri (Body)"/>
              </a:rPr>
              <a:t> </a:t>
            </a:r>
            <a:r>
              <a:rPr lang="en-US" sz="900" dirty="0" err="1">
                <a:latin typeface="Calibri (Body)"/>
              </a:rPr>
              <a:t>alokacije</a:t>
            </a:r>
            <a:r>
              <a:rPr lang="sr-Latn-RS" sz="900" dirty="0">
                <a:latin typeface="Calibri (Body)"/>
              </a:rPr>
              <a:t>.</a:t>
            </a:r>
          </a:p>
          <a:p>
            <a:endParaRPr lang="en-US" sz="900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2719909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4" grpId="0" animBg="1"/>
      <p:bldP spid="75" grpId="0" animBg="1"/>
      <p:bldP spid="76" grpId="0" animBg="1"/>
      <p:bldP spid="77" grpId="0" animBg="1"/>
      <p:bldP spid="7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8579133" y="3285545"/>
            <a:ext cx="1096280" cy="524847"/>
          </a:xfrm>
          <a:prstGeom prst="rect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atin typeface="Calibri (Body)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311801" y="3285545"/>
            <a:ext cx="1096280" cy="524847"/>
          </a:xfrm>
          <a:prstGeom prst="rect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atin typeface="Calibri (Body)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FAT 12/16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1691322"/>
            <a:ext cx="8595360" cy="4351337"/>
          </a:xfrm>
        </p:spPr>
        <p:txBody>
          <a:bodyPr>
            <a:normAutofit/>
          </a:bodyPr>
          <a:lstStyle/>
          <a:p>
            <a:r>
              <a:rPr lang="en-US" dirty="0" err="1" smtClean="0"/>
              <a:t>Ulaz</a:t>
            </a:r>
            <a:r>
              <a:rPr lang="en-US" dirty="0" smtClean="0"/>
              <a:t> u </a:t>
            </a:r>
            <a:r>
              <a:rPr lang="en-US" dirty="0" err="1" smtClean="0"/>
              <a:t>tabelu</a:t>
            </a:r>
            <a:r>
              <a:rPr lang="en-US" dirty="0"/>
              <a:t> </a:t>
            </a:r>
            <a:r>
              <a:rPr lang="sr-Latn-RS" dirty="0" smtClean="0"/>
              <a:t>12 bita</a:t>
            </a:r>
            <a:r>
              <a:rPr lang="en-US" dirty="0" smtClean="0"/>
              <a:t>.</a:t>
            </a:r>
          </a:p>
          <a:p>
            <a:pPr lvl="1"/>
            <a:r>
              <a:rPr lang="en-US" dirty="0" err="1" smtClean="0"/>
              <a:t>Broj</a:t>
            </a:r>
            <a:r>
              <a:rPr lang="en-US" dirty="0" smtClean="0"/>
              <a:t> </a:t>
            </a:r>
            <a:r>
              <a:rPr lang="sr-Latn-RS" dirty="0" smtClean="0"/>
              <a:t>blokova na disku je maksimalno 2</a:t>
            </a:r>
            <a:r>
              <a:rPr lang="en-US" baseline="30000" dirty="0" smtClean="0"/>
              <a:t>12</a:t>
            </a:r>
          </a:p>
          <a:p>
            <a:r>
              <a:rPr lang="en-US" dirty="0" smtClean="0"/>
              <a:t>Vi</a:t>
            </a:r>
            <a:r>
              <a:rPr lang="sr-Latn-RS" dirty="0" smtClean="0"/>
              <a:t>še sektora</a:t>
            </a:r>
            <a:r>
              <a:rPr lang="en-US" dirty="0" smtClean="0"/>
              <a:t>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 err="1" smtClean="0"/>
              <a:t>diska</a:t>
            </a:r>
            <a:r>
              <a:rPr lang="en-US" dirty="0" smtClean="0"/>
              <a:t> - </a:t>
            </a:r>
            <a:r>
              <a:rPr lang="en-US" b="1" dirty="0" err="1" smtClean="0"/>
              <a:t>klaster</a:t>
            </a:r>
            <a:r>
              <a:rPr lang="en-US" b="1" dirty="0" smtClean="0"/>
              <a:t> (</a:t>
            </a:r>
            <a:r>
              <a:rPr lang="en-US" b="1" dirty="0" err="1" smtClean="0"/>
              <a:t>blok</a:t>
            </a:r>
            <a:r>
              <a:rPr lang="en-US" b="1" dirty="0" smtClean="0"/>
              <a:t>)</a:t>
            </a:r>
            <a:r>
              <a:rPr lang="en-US" dirty="0" smtClean="0"/>
              <a:t>.</a:t>
            </a:r>
            <a:endParaRPr lang="sr-Latn-RS" dirty="0" smtClean="0"/>
          </a:p>
          <a:p>
            <a:r>
              <a:rPr lang="en-US" dirty="0" smtClean="0"/>
              <a:t>FAT 12</a:t>
            </a:r>
            <a:r>
              <a:rPr lang="sr-Latn-RS" dirty="0" smtClean="0"/>
              <a:t> </a:t>
            </a:r>
            <a:r>
              <a:rPr lang="en-US" dirty="0" smtClean="0"/>
              <a:t>– ne </a:t>
            </a:r>
            <a:r>
              <a:rPr lang="en-US" dirty="0" err="1" smtClean="0"/>
              <a:t>koristi</a:t>
            </a:r>
            <a:r>
              <a:rPr lang="en-US" dirty="0" smtClean="0"/>
              <a:t> se		 </a:t>
            </a:r>
            <a:endParaRPr lang="sr-Latn-RS" dirty="0" smtClean="0"/>
          </a:p>
          <a:p>
            <a:pPr lvl="1"/>
            <a:r>
              <a:rPr lang="sr-Latn-RS" dirty="0" smtClean="0"/>
              <a:t>maksimalna veličina volumena: 16MB</a:t>
            </a:r>
          </a:p>
          <a:p>
            <a:pPr lvl="1"/>
            <a:r>
              <a:rPr lang="sr-Latn-RS" dirty="0" smtClean="0"/>
              <a:t>maksimalna veličina fajla:</a:t>
            </a:r>
            <a:r>
              <a:rPr lang="en-US" dirty="0" smtClean="0"/>
              <a:t> </a:t>
            </a:r>
            <a:r>
              <a:rPr lang="en-US" dirty="0" err="1" smtClean="0"/>
              <a:t>ispod</a:t>
            </a:r>
            <a:r>
              <a:rPr lang="en-US" dirty="0" smtClean="0"/>
              <a:t> 16MB</a:t>
            </a:r>
            <a:endParaRPr lang="sr-Latn-RS" dirty="0" smtClean="0"/>
          </a:p>
          <a:p>
            <a:pPr lvl="1"/>
            <a:r>
              <a:rPr lang="sr-Latn-RS" dirty="0" smtClean="0"/>
              <a:t>klaster: 512B</a:t>
            </a:r>
            <a:r>
              <a:rPr lang="en-US" dirty="0" smtClean="0"/>
              <a:t>-4KB</a:t>
            </a:r>
            <a:endParaRPr lang="sr-Latn-RS" dirty="0" smtClean="0"/>
          </a:p>
          <a:p>
            <a:r>
              <a:rPr lang="en-US" dirty="0" smtClean="0"/>
              <a:t>FAT 16 – ne </a:t>
            </a:r>
            <a:r>
              <a:rPr lang="en-US" dirty="0" err="1" smtClean="0"/>
              <a:t>koristi</a:t>
            </a:r>
            <a:r>
              <a:rPr lang="en-US" dirty="0" smtClean="0"/>
              <a:t> se</a:t>
            </a:r>
          </a:p>
          <a:p>
            <a:pPr lvl="1"/>
            <a:r>
              <a:rPr lang="en-US" dirty="0" err="1" smtClean="0"/>
              <a:t>maksimalna</a:t>
            </a:r>
            <a:r>
              <a:rPr lang="en-US" dirty="0" smtClean="0"/>
              <a:t> </a:t>
            </a:r>
            <a:r>
              <a:rPr lang="en-US" dirty="0" err="1" smtClean="0"/>
              <a:t>ve</a:t>
            </a:r>
            <a:r>
              <a:rPr lang="sr-Latn-RS" dirty="0" smtClean="0"/>
              <a:t>ličina volumena: 2GB</a:t>
            </a:r>
            <a:endParaRPr lang="en-US" dirty="0" smtClean="0"/>
          </a:p>
          <a:p>
            <a:pPr lvl="1"/>
            <a:r>
              <a:rPr lang="en-US" dirty="0" err="1" smtClean="0"/>
              <a:t>maksimalna</a:t>
            </a:r>
            <a:r>
              <a:rPr lang="en-US" dirty="0" smtClean="0"/>
              <a:t> </a:t>
            </a:r>
            <a:r>
              <a:rPr lang="en-US" dirty="0" err="1" smtClean="0"/>
              <a:t>veli</a:t>
            </a:r>
            <a:r>
              <a:rPr lang="sr-Latn-RS" dirty="0" smtClean="0"/>
              <a:t>čina fajla: 2GB</a:t>
            </a:r>
            <a:endParaRPr lang="sr-Latn-RS" dirty="0"/>
          </a:p>
          <a:p>
            <a:pPr lvl="1"/>
            <a:r>
              <a:rPr lang="sr-Latn-RS" dirty="0" smtClean="0"/>
              <a:t>klaster: </a:t>
            </a:r>
            <a:r>
              <a:rPr lang="en-US" dirty="0" smtClean="0"/>
              <a:t>2KB-32KB</a:t>
            </a:r>
            <a:endParaRPr lang="sr-Latn-RS" dirty="0" smtClean="0"/>
          </a:p>
          <a:p>
            <a:pPr marL="0" indent="0">
              <a:buNone/>
            </a:pPr>
            <a:endParaRPr lang="sr-Latn-R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0000" lnSpcReduction="20000"/>
          </a:bodyPr>
          <a:lstStyle/>
          <a:p>
            <a:fld id="{49F83D39-FACF-43C7-9C4E-3C002A13A54D}" type="slidenum">
              <a:rPr lang="en-US" smtClean="0"/>
              <a:pPr/>
              <a:t>12</a:t>
            </a:fld>
            <a:r>
              <a:rPr lang="en-US" smtClean="0"/>
              <a:t>/17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7311803" y="3285545"/>
            <a:ext cx="426877" cy="52484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atin typeface="Calibri (Body)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703200" y="3285545"/>
            <a:ext cx="426877" cy="52484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atin typeface="Calibri (Body)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130075" y="3285545"/>
            <a:ext cx="278007" cy="52484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atin typeface="Calibri (Body)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579135" y="3285545"/>
            <a:ext cx="426877" cy="5248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atin typeface="Calibri (Body)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970532" y="3285545"/>
            <a:ext cx="426877" cy="52484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atin typeface="Calibri (Body)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397407" y="3285545"/>
            <a:ext cx="278007" cy="5248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atin typeface="Calibri (Body)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916639" y="4228519"/>
            <a:ext cx="426877" cy="52484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atin typeface="Calibri (Body)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346208" y="4228519"/>
            <a:ext cx="426877" cy="5248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atin typeface="Calibri (Body)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773085" y="4228519"/>
            <a:ext cx="278007" cy="52484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atin typeface="Calibri (Body)"/>
            </a:endParaRPr>
          </a:p>
        </p:txBody>
      </p:sp>
      <p:cxnSp>
        <p:nvCxnSpPr>
          <p:cNvPr id="32" name="Straight Arrow Connector 31"/>
          <p:cNvCxnSpPr>
            <a:stCxn id="19" idx="0"/>
          </p:cNvCxnSpPr>
          <p:nvPr/>
        </p:nvCxnSpPr>
        <p:spPr>
          <a:xfrm flipV="1">
            <a:off x="7859944" y="2846071"/>
            <a:ext cx="396329" cy="439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20" idx="0"/>
          </p:cNvCxnSpPr>
          <p:nvPr/>
        </p:nvCxnSpPr>
        <p:spPr>
          <a:xfrm flipH="1" flipV="1">
            <a:off x="8484872" y="2846071"/>
            <a:ext cx="642403" cy="439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102117" y="2622196"/>
            <a:ext cx="742511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1" dirty="0" err="1">
                <a:latin typeface="Calibri (Body)"/>
              </a:rPr>
              <a:t>Diskovi</a:t>
            </a:r>
            <a:endParaRPr lang="en-US" sz="1351" dirty="0">
              <a:latin typeface="Calibri (Body)"/>
            </a:endParaRPr>
          </a:p>
        </p:txBody>
      </p:sp>
      <p:cxnSp>
        <p:nvCxnSpPr>
          <p:cNvPr id="37" name="Straight Arrow Connector 36"/>
          <p:cNvCxnSpPr/>
          <p:nvPr/>
        </p:nvCxnSpPr>
        <p:spPr>
          <a:xfrm flipH="1">
            <a:off x="6873241" y="3646173"/>
            <a:ext cx="782955" cy="531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7010891" y="3651994"/>
            <a:ext cx="2134043" cy="544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>
            <a:off x="6965119" y="3645373"/>
            <a:ext cx="951519" cy="5256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520909" y="4183489"/>
            <a:ext cx="800219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1" dirty="0" err="1">
                <a:latin typeface="Calibri (Body)"/>
              </a:rPr>
              <a:t>Particije</a:t>
            </a:r>
            <a:endParaRPr lang="en-US" sz="1351" dirty="0">
              <a:latin typeface="Calibri (Body)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638319" y="4811036"/>
            <a:ext cx="19833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1" dirty="0" err="1">
                <a:latin typeface="Calibri (Body)"/>
              </a:rPr>
              <a:t>Volumen</a:t>
            </a:r>
            <a:r>
              <a:rPr lang="en-US" sz="1351" dirty="0">
                <a:latin typeface="Calibri (Body)"/>
              </a:rPr>
              <a:t> C: </a:t>
            </a:r>
            <a:r>
              <a:rPr lang="en-US" sz="1351" dirty="0" err="1">
                <a:latin typeface="Calibri (Body)"/>
              </a:rPr>
              <a:t>ili</a:t>
            </a:r>
            <a:r>
              <a:rPr lang="en-US" sz="1351" dirty="0">
                <a:latin typeface="Calibri (Body)"/>
              </a:rPr>
              <a:t> D: </a:t>
            </a:r>
            <a:r>
              <a:rPr lang="en-US" sz="1351" dirty="0" err="1">
                <a:latin typeface="Calibri (Body)"/>
              </a:rPr>
              <a:t>ili</a:t>
            </a:r>
            <a:r>
              <a:rPr lang="en-US" sz="1351" dirty="0">
                <a:latin typeface="Calibri (Body)"/>
              </a:rPr>
              <a:t> E:...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84757" y="5252895"/>
            <a:ext cx="1800227" cy="715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1" dirty="0">
                <a:latin typeface="Calibri (Body)"/>
              </a:rPr>
              <a:t>Na </a:t>
            </a:r>
            <a:r>
              <a:rPr lang="en-US" sz="1351" dirty="0" err="1">
                <a:latin typeface="Calibri (Body)"/>
              </a:rPr>
              <a:t>volumenu</a:t>
            </a:r>
            <a:r>
              <a:rPr lang="en-US" sz="1351" dirty="0">
                <a:latin typeface="Calibri (Body)"/>
              </a:rPr>
              <a:t> se </a:t>
            </a:r>
            <a:r>
              <a:rPr lang="en-US" sz="1351" dirty="0" err="1">
                <a:latin typeface="Calibri (Body)"/>
              </a:rPr>
              <a:t>mo</a:t>
            </a:r>
            <a:r>
              <a:rPr lang="sr-Latn-RS" sz="1351" dirty="0">
                <a:latin typeface="Calibri (Body)"/>
              </a:rPr>
              <a:t>že organizovati fajl sistem.</a:t>
            </a:r>
            <a:endParaRPr lang="en-US" sz="1351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2172551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35" grpId="0"/>
      <p:bldP spid="42" grpId="0"/>
      <p:bldP spid="43" grpId="0"/>
      <p:bldP spid="5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FAT 32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1691322"/>
            <a:ext cx="8595360" cy="4351337"/>
          </a:xfrm>
        </p:spPr>
        <p:txBody>
          <a:bodyPr/>
          <a:lstStyle/>
          <a:p>
            <a:r>
              <a:rPr lang="en-US" dirty="0" err="1" smtClean="0"/>
              <a:t>Koristi</a:t>
            </a:r>
            <a:r>
              <a:rPr lang="en-US" dirty="0" smtClean="0"/>
              <a:t> 28 od </a:t>
            </a:r>
            <a:r>
              <a:rPr lang="en-US" dirty="0" err="1" smtClean="0"/>
              <a:t>mogu</a:t>
            </a:r>
            <a:r>
              <a:rPr lang="sr-Latn-RS" dirty="0" smtClean="0"/>
              <a:t>ćih 32 bita</a:t>
            </a:r>
            <a:r>
              <a:rPr lang="en-US" dirty="0" smtClean="0"/>
              <a:t> (vi</a:t>
            </a:r>
            <a:r>
              <a:rPr lang="sr-Latn-RS" dirty="0" smtClean="0"/>
              <a:t>ših</a:t>
            </a:r>
            <a:r>
              <a:rPr lang="en-US" dirty="0" smtClean="0"/>
              <a:t> 4b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 smtClean="0"/>
              <a:t>rezervisan</a:t>
            </a:r>
            <a:r>
              <a:rPr lang="sr-Latn-RS" dirty="0" smtClean="0"/>
              <a:t>i</a:t>
            </a:r>
            <a:r>
              <a:rPr lang="en-US" dirty="0" smtClean="0"/>
              <a:t>).</a:t>
            </a:r>
            <a:endParaRPr lang="sr-Latn-RS" dirty="0" smtClean="0"/>
          </a:p>
          <a:p>
            <a:r>
              <a:rPr lang="sr-Latn-RS" dirty="0" smtClean="0"/>
              <a:t>Specifikacije:</a:t>
            </a:r>
          </a:p>
          <a:p>
            <a:pPr lvl="1"/>
            <a:r>
              <a:rPr lang="en-US" dirty="0" err="1"/>
              <a:t>maksimalna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sr-Latn-RS" dirty="0"/>
              <a:t>ličina volumena: </a:t>
            </a:r>
            <a:r>
              <a:rPr lang="sr-Latn-RS" dirty="0" smtClean="0"/>
              <a:t>8</a:t>
            </a:r>
            <a:r>
              <a:rPr lang="en-US" dirty="0" smtClean="0"/>
              <a:t>T</a:t>
            </a:r>
            <a:r>
              <a:rPr lang="sr-Latn-RS" dirty="0" smtClean="0"/>
              <a:t>B</a:t>
            </a:r>
            <a:endParaRPr lang="en-US" dirty="0"/>
          </a:p>
          <a:p>
            <a:pPr lvl="1"/>
            <a:r>
              <a:rPr lang="en-US" dirty="0" err="1"/>
              <a:t>maksimalna</a:t>
            </a:r>
            <a:r>
              <a:rPr lang="en-US" dirty="0"/>
              <a:t> </a:t>
            </a:r>
            <a:r>
              <a:rPr lang="en-US" dirty="0" err="1"/>
              <a:t>veli</a:t>
            </a:r>
            <a:r>
              <a:rPr lang="sr-Latn-RS" dirty="0"/>
              <a:t>čina fajla: </a:t>
            </a:r>
            <a:r>
              <a:rPr lang="en-US" dirty="0" smtClean="0"/>
              <a:t>4</a:t>
            </a:r>
            <a:r>
              <a:rPr lang="sr-Latn-RS" dirty="0" smtClean="0"/>
              <a:t>GB</a:t>
            </a:r>
            <a:endParaRPr lang="sr-Latn-RS" dirty="0"/>
          </a:p>
          <a:p>
            <a:pPr lvl="1"/>
            <a:r>
              <a:rPr lang="sr-Latn-RS" dirty="0"/>
              <a:t>klaster: </a:t>
            </a:r>
            <a:r>
              <a:rPr lang="en-US" dirty="0" smtClean="0"/>
              <a:t>do 64KB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 smtClean="0"/>
              <a:t>Partition boot sector </a:t>
            </a:r>
            <a:endParaRPr lang="en-US" dirty="0" smtClean="0"/>
          </a:p>
          <a:p>
            <a:pPr lvl="1"/>
            <a:r>
              <a:rPr lang="sr-Latn-RS" dirty="0" smtClean="0"/>
              <a:t>polja vezana za FAT i volumen</a:t>
            </a:r>
            <a:endParaRPr lang="en-US" dirty="0"/>
          </a:p>
          <a:p>
            <a:pPr lvl="1"/>
            <a:r>
              <a:rPr lang="en-US" b="1" dirty="0" smtClean="0"/>
              <a:t>Bootstrap Code</a:t>
            </a:r>
            <a:r>
              <a:rPr lang="en-US" dirty="0"/>
              <a:t> </a:t>
            </a:r>
            <a:endParaRPr lang="en-US" dirty="0" smtClean="0"/>
          </a:p>
          <a:p>
            <a:pPr lvl="2"/>
            <a:r>
              <a:rPr lang="en-US" dirty="0" err="1" smtClean="0"/>
              <a:t>za</a:t>
            </a:r>
            <a:r>
              <a:rPr lang="en-US" dirty="0" smtClean="0"/>
              <a:t> </a:t>
            </a:r>
            <a:r>
              <a:rPr lang="en-US" dirty="0" err="1" smtClean="0"/>
              <a:t>podizanje</a:t>
            </a:r>
            <a:r>
              <a:rPr lang="en-US" dirty="0" smtClean="0"/>
              <a:t> </a:t>
            </a:r>
            <a:r>
              <a:rPr lang="en-US" dirty="0" err="1" smtClean="0"/>
              <a:t>operativnog</a:t>
            </a:r>
            <a:r>
              <a:rPr lang="en-US" dirty="0" smtClean="0"/>
              <a:t> </a:t>
            </a:r>
            <a:r>
              <a:rPr lang="en-US" dirty="0" err="1" smtClean="0"/>
              <a:t>sistema</a:t>
            </a:r>
            <a:endParaRPr lang="sr-Latn-R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0000" lnSpcReduction="20000"/>
          </a:bodyPr>
          <a:lstStyle/>
          <a:p>
            <a:fld id="{49F83D39-FACF-43C7-9C4E-3C002A13A54D}" type="slidenum">
              <a:rPr lang="en-US" smtClean="0"/>
              <a:pPr/>
              <a:t>13</a:t>
            </a:fld>
            <a:r>
              <a:rPr lang="en-US" smtClean="0"/>
              <a:t>/17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839394" y="1828802"/>
            <a:ext cx="2057400" cy="243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Partition Boot Sector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7839394" y="2416678"/>
            <a:ext cx="2057400" cy="34611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FAT Copy</a:t>
            </a:r>
            <a:endParaRPr lang="en-US" sz="1351" dirty="0">
              <a:latin typeface="Calibri (Body)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839394" y="2762795"/>
            <a:ext cx="2057400" cy="27358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Root Folder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39394" y="2070560"/>
            <a:ext cx="2057400" cy="34611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File Allocation 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39394" y="3036379"/>
            <a:ext cx="2057400" cy="243959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>
                <a:latin typeface="Calibri (Body)"/>
              </a:rPr>
              <a:t>Directory</a:t>
            </a:r>
          </a:p>
          <a:p>
            <a:pPr algn="ctr"/>
            <a:r>
              <a:rPr lang="en-US" sz="1351">
                <a:latin typeface="Calibri (Body)"/>
              </a:rPr>
              <a:t>File</a:t>
            </a:r>
          </a:p>
          <a:p>
            <a:pPr algn="ctr"/>
            <a:r>
              <a:rPr lang="en-US" sz="1351">
                <a:latin typeface="Calibri (Body)"/>
              </a:rPr>
              <a:t>Directory</a:t>
            </a:r>
          </a:p>
          <a:p>
            <a:pPr algn="ctr"/>
            <a:r>
              <a:rPr lang="en-US" sz="1351">
                <a:latin typeface="Calibri (Body)"/>
              </a:rPr>
              <a:t>File</a:t>
            </a:r>
          </a:p>
          <a:p>
            <a:pPr algn="ctr"/>
            <a:r>
              <a:rPr lang="en-US" sz="1351">
                <a:latin typeface="Calibri (Body)"/>
              </a:rPr>
              <a:t>File</a:t>
            </a:r>
          </a:p>
          <a:p>
            <a:pPr algn="ctr"/>
            <a:r>
              <a:rPr lang="en-US" sz="1351">
                <a:latin typeface="Calibri (Body)"/>
              </a:rPr>
              <a:t>...</a:t>
            </a:r>
            <a:endParaRPr lang="en-US" sz="1351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99259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exFAT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1703051"/>
            <a:ext cx="6446520" cy="4665305"/>
          </a:xfrm>
        </p:spPr>
        <p:txBody>
          <a:bodyPr>
            <a:normAutofit lnSpcReduction="10000"/>
          </a:bodyPr>
          <a:lstStyle/>
          <a:p>
            <a:r>
              <a:rPr lang="en-US" dirty="0" err="1" smtClean="0"/>
              <a:t>Najnovija</a:t>
            </a:r>
            <a:r>
              <a:rPr lang="en-US" dirty="0" smtClean="0"/>
              <a:t> </a:t>
            </a:r>
            <a:r>
              <a:rPr lang="en-US" dirty="0" err="1" smtClean="0"/>
              <a:t>verzija</a:t>
            </a:r>
            <a:r>
              <a:rPr lang="en-US" dirty="0" smtClean="0"/>
              <a:t> FAT </a:t>
            </a:r>
            <a:r>
              <a:rPr lang="en-US" dirty="0" err="1" smtClean="0"/>
              <a:t>fajl</a:t>
            </a:r>
            <a:r>
              <a:rPr lang="en-US" dirty="0" smtClean="0"/>
              <a:t> </a:t>
            </a:r>
            <a:r>
              <a:rPr lang="en-US" dirty="0" err="1" smtClean="0"/>
              <a:t>sistema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sr-Latn-RS" dirty="0"/>
              <a:t>Specifikacije:</a:t>
            </a:r>
          </a:p>
          <a:p>
            <a:pPr lvl="1"/>
            <a:r>
              <a:rPr lang="en-US" dirty="0" err="1"/>
              <a:t>maksimalna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sr-Latn-RS" dirty="0"/>
              <a:t>ličina volumena</a:t>
            </a:r>
            <a:r>
              <a:rPr lang="sr-Latn-RS" dirty="0" smtClean="0"/>
              <a:t>:</a:t>
            </a:r>
            <a:r>
              <a:rPr lang="en-US" dirty="0" smtClean="0"/>
              <a:t> </a:t>
            </a:r>
            <a:endParaRPr lang="en-US" dirty="0"/>
          </a:p>
          <a:p>
            <a:pPr lvl="2"/>
            <a:r>
              <a:rPr lang="en-US" dirty="0" err="1" smtClean="0"/>
              <a:t>nema</a:t>
            </a:r>
            <a:r>
              <a:rPr lang="en-US" dirty="0" smtClean="0"/>
              <a:t> </a:t>
            </a:r>
            <a:r>
              <a:rPr lang="en-US" dirty="0" err="1" smtClean="0"/>
              <a:t>ograni</a:t>
            </a:r>
            <a:r>
              <a:rPr lang="sr-Latn-RS" dirty="0" smtClean="0"/>
              <a:t>čenja (128PB)</a:t>
            </a:r>
            <a:endParaRPr lang="en-US" dirty="0"/>
          </a:p>
          <a:p>
            <a:pPr lvl="1"/>
            <a:r>
              <a:rPr lang="en-US" dirty="0" err="1"/>
              <a:t>maksimalna</a:t>
            </a:r>
            <a:r>
              <a:rPr lang="en-US" dirty="0"/>
              <a:t> </a:t>
            </a:r>
            <a:r>
              <a:rPr lang="en-US" dirty="0" err="1"/>
              <a:t>veli</a:t>
            </a:r>
            <a:r>
              <a:rPr lang="sr-Latn-RS" dirty="0"/>
              <a:t>čina </a:t>
            </a:r>
            <a:r>
              <a:rPr lang="sr-Latn-RS" dirty="0" smtClean="0"/>
              <a:t>fajla: </a:t>
            </a:r>
            <a:endParaRPr lang="en-US" dirty="0" smtClean="0"/>
          </a:p>
          <a:p>
            <a:pPr lvl="2"/>
            <a:r>
              <a:rPr lang="sr-Latn-RS" dirty="0" smtClean="0"/>
              <a:t>nema ograničenja (</a:t>
            </a:r>
            <a:r>
              <a:rPr lang="en-US" dirty="0" smtClean="0"/>
              <a:t>16 EB</a:t>
            </a:r>
            <a:r>
              <a:rPr lang="sr-Latn-RS" dirty="0"/>
              <a:t>)</a:t>
            </a:r>
            <a:endParaRPr lang="sr-Latn-RS" dirty="0" smtClean="0"/>
          </a:p>
          <a:p>
            <a:pPr lvl="1"/>
            <a:r>
              <a:rPr lang="sr-Latn-RS" dirty="0" smtClean="0"/>
              <a:t>klaster:</a:t>
            </a:r>
            <a:r>
              <a:rPr lang="en-US" dirty="0" smtClean="0"/>
              <a:t> </a:t>
            </a:r>
            <a:r>
              <a:rPr lang="en-US" dirty="0"/>
              <a:t>do 64KB</a:t>
            </a:r>
          </a:p>
          <a:p>
            <a:pPr marL="0" indent="0">
              <a:buNone/>
            </a:pPr>
            <a:endParaRPr lang="en-US" dirty="0"/>
          </a:p>
          <a:p>
            <a:endParaRPr lang="en-US" b="1" dirty="0" smtClean="0"/>
          </a:p>
          <a:p>
            <a:r>
              <a:rPr lang="en-US" b="1" dirty="0" smtClean="0"/>
              <a:t>Allocation Bitmap [11111000</a:t>
            </a:r>
            <a:r>
              <a:rPr lang="en-US" b="1" baseline="-25000" dirty="0" smtClean="0"/>
              <a:t>b</a:t>
            </a:r>
            <a:r>
              <a:rPr lang="en-US" b="1" dirty="0" smtClean="0"/>
              <a:t>, 1001...]</a:t>
            </a:r>
          </a:p>
          <a:p>
            <a:pPr lvl="1"/>
            <a:r>
              <a:rPr lang="en-US" dirty="0" smtClean="0"/>
              <a:t>1 - </a:t>
            </a:r>
            <a:r>
              <a:rPr lang="en-US" dirty="0" err="1" smtClean="0"/>
              <a:t>zauzet</a:t>
            </a:r>
            <a:r>
              <a:rPr lang="en-US" dirty="0" smtClean="0"/>
              <a:t>, 0 - </a:t>
            </a:r>
            <a:r>
              <a:rPr lang="en-US" dirty="0" err="1" smtClean="0"/>
              <a:t>slobodan</a:t>
            </a:r>
            <a:r>
              <a:rPr lang="en-US" dirty="0" smtClean="0"/>
              <a:t> </a:t>
            </a:r>
            <a:r>
              <a:rPr lang="en-US" dirty="0" err="1" smtClean="0"/>
              <a:t>blok</a:t>
            </a:r>
            <a:endParaRPr lang="sr-Latn-RS" dirty="0" smtClean="0"/>
          </a:p>
          <a:p>
            <a:pPr lvl="1"/>
            <a:r>
              <a:rPr lang="sr-Latn-RS" dirty="0" smtClean="0"/>
              <a:t>u prethodnim FAT verzijama </a:t>
            </a:r>
            <a:r>
              <a:rPr lang="en-US" dirty="0" smtClean="0"/>
              <a:t>– </a:t>
            </a:r>
            <a:r>
              <a:rPr lang="en-US" dirty="0" err="1" smtClean="0"/>
              <a:t>preko</a:t>
            </a:r>
            <a:r>
              <a:rPr lang="en-US" dirty="0" smtClean="0"/>
              <a:t> </a:t>
            </a:r>
            <a:r>
              <a:rPr lang="en-US" dirty="0" err="1" smtClean="0"/>
              <a:t>samog</a:t>
            </a:r>
            <a:r>
              <a:rPr lang="en-US" dirty="0" smtClean="0"/>
              <a:t> FAT (0/-1 – free)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0000" lnSpcReduction="20000"/>
          </a:bodyPr>
          <a:lstStyle/>
          <a:p>
            <a:fld id="{49F83D39-FACF-43C7-9C4E-3C002A13A54D}" type="slidenum">
              <a:rPr lang="en-US" smtClean="0"/>
              <a:pPr/>
              <a:t>14</a:t>
            </a:fld>
            <a:r>
              <a:rPr lang="en-US" smtClean="0"/>
              <a:t>/17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047481" y="1803759"/>
            <a:ext cx="2057400" cy="243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Main Boot Region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7481" y="2046765"/>
            <a:ext cx="2057400" cy="243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Backup Boot Region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7481" y="2289770"/>
            <a:ext cx="2057400" cy="34611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File Allocation 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7481" y="2635887"/>
            <a:ext cx="2057400" cy="271317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Data Region</a:t>
            </a: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  <a:p>
            <a:pPr algn="ctr"/>
            <a:endParaRPr lang="en-US" sz="1351" dirty="0">
              <a:latin typeface="Calibri (Body)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22944" y="3132020"/>
            <a:ext cx="1506475" cy="180736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Allocation Bitmap</a:t>
            </a:r>
          </a:p>
          <a:p>
            <a:pPr algn="ctr"/>
            <a:r>
              <a:rPr lang="en-US" sz="1351" dirty="0">
                <a:latin typeface="Calibri (Body)"/>
              </a:rPr>
              <a:t>Directory</a:t>
            </a:r>
          </a:p>
          <a:p>
            <a:pPr algn="ctr"/>
            <a:r>
              <a:rPr lang="en-US" sz="1351" dirty="0">
                <a:latin typeface="Calibri (Body)"/>
              </a:rPr>
              <a:t>File</a:t>
            </a:r>
          </a:p>
          <a:p>
            <a:pPr algn="ctr"/>
            <a:r>
              <a:rPr lang="en-US" sz="1351" dirty="0">
                <a:latin typeface="Calibri (Body)"/>
              </a:rPr>
              <a:t>Directory</a:t>
            </a:r>
          </a:p>
          <a:p>
            <a:pPr algn="ctr"/>
            <a:r>
              <a:rPr lang="en-US" sz="1351" dirty="0">
                <a:latin typeface="Calibri (Body)"/>
              </a:rPr>
              <a:t>File</a:t>
            </a:r>
          </a:p>
          <a:p>
            <a:pPr algn="ctr"/>
            <a:r>
              <a:rPr lang="en-US" sz="1351" dirty="0">
                <a:latin typeface="Calibri (Body)"/>
              </a:rPr>
              <a:t>File</a:t>
            </a:r>
          </a:p>
          <a:p>
            <a:pPr algn="ctr"/>
            <a:r>
              <a:rPr lang="en-US" sz="1351" dirty="0">
                <a:latin typeface="Calibri (Body)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108954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NTFS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1691322"/>
            <a:ext cx="7348511" cy="4351337"/>
          </a:xfrm>
        </p:spPr>
        <p:txBody>
          <a:bodyPr/>
          <a:lstStyle/>
          <a:p>
            <a:r>
              <a:rPr lang="en-US" dirty="0" err="1" smtClean="0"/>
              <a:t>Primarni</a:t>
            </a:r>
            <a:r>
              <a:rPr lang="en-US" dirty="0" smtClean="0"/>
              <a:t> </a:t>
            </a:r>
            <a:r>
              <a:rPr lang="en-US" dirty="0" err="1" smtClean="0"/>
              <a:t>fajl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</a:t>
            </a:r>
            <a:r>
              <a:rPr lang="en-US" dirty="0" err="1" smtClean="0"/>
              <a:t>za</a:t>
            </a:r>
            <a:r>
              <a:rPr lang="en-US" dirty="0" smtClean="0"/>
              <a:t> Windows.</a:t>
            </a:r>
            <a:endParaRPr lang="en-US" dirty="0"/>
          </a:p>
          <a:p>
            <a:r>
              <a:rPr lang="en-US" dirty="0" err="1" smtClean="0"/>
              <a:t>Popularan</a:t>
            </a:r>
            <a:r>
              <a:rPr lang="en-US" dirty="0" smtClean="0"/>
              <a:t> </a:t>
            </a:r>
            <a:r>
              <a:rPr lang="en-US" dirty="0" err="1" smtClean="0"/>
              <a:t>nakon</a:t>
            </a:r>
            <a:r>
              <a:rPr lang="en-US" dirty="0" smtClean="0"/>
              <a:t> </a:t>
            </a:r>
            <a:r>
              <a:rPr lang="en-US" dirty="0" err="1" smtClean="0"/>
              <a:t>objave</a:t>
            </a:r>
            <a:r>
              <a:rPr lang="en-US" dirty="0" smtClean="0"/>
              <a:t> Windows XP.</a:t>
            </a:r>
          </a:p>
          <a:p>
            <a:r>
              <a:rPr lang="en-US" dirty="0" err="1" smtClean="0"/>
              <a:t>Pobolj</a:t>
            </a:r>
            <a:r>
              <a:rPr lang="sr-Latn-RS" dirty="0" smtClean="0"/>
              <a:t>šanja</a:t>
            </a:r>
          </a:p>
          <a:p>
            <a:pPr lvl="1"/>
            <a:r>
              <a:rPr lang="sr-Latn-RS" dirty="0" smtClean="0"/>
              <a:t>enkripcija</a:t>
            </a:r>
          </a:p>
          <a:p>
            <a:pPr lvl="1"/>
            <a:r>
              <a:rPr lang="sr-Latn-RS" dirty="0" smtClean="0"/>
              <a:t>kompresija</a:t>
            </a:r>
          </a:p>
          <a:p>
            <a:pPr lvl="1"/>
            <a:r>
              <a:rPr lang="sr-Latn-RS" dirty="0" smtClean="0"/>
              <a:t>oporavak od grešaka</a:t>
            </a:r>
          </a:p>
          <a:p>
            <a:pPr lvl="1"/>
            <a:r>
              <a:rPr lang="sr-Latn-RS" dirty="0" smtClean="0"/>
              <a:t>journaling </a:t>
            </a:r>
            <a:r>
              <a:rPr lang="en-US" dirty="0" smtClean="0"/>
              <a:t>– </a:t>
            </a:r>
            <a:r>
              <a:rPr lang="en-US" dirty="0" err="1" smtClean="0"/>
              <a:t>vo</a:t>
            </a:r>
            <a:r>
              <a:rPr lang="sr-Latn-RS" dirty="0" smtClean="0"/>
              <a:t>đenje zapisnika</a:t>
            </a:r>
            <a:endParaRPr lang="en-US" dirty="0" smtClean="0"/>
          </a:p>
          <a:p>
            <a:r>
              <a:rPr lang="sr-Latn-RS" dirty="0" smtClean="0"/>
              <a:t>Specifikacije</a:t>
            </a:r>
            <a:r>
              <a:rPr lang="sr-Latn-RS" dirty="0"/>
              <a:t>:</a:t>
            </a:r>
          </a:p>
          <a:p>
            <a:pPr lvl="1"/>
            <a:r>
              <a:rPr lang="en-US" dirty="0" err="1"/>
              <a:t>maksimalna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sr-Latn-RS" dirty="0"/>
              <a:t>ličina volumena</a:t>
            </a:r>
            <a:r>
              <a:rPr lang="sr-Latn-RS" dirty="0" smtClean="0"/>
              <a:t>: nema ograničenja (</a:t>
            </a:r>
            <a:r>
              <a:rPr lang="en-US" dirty="0" smtClean="0"/>
              <a:t>u </a:t>
            </a:r>
            <a:r>
              <a:rPr lang="en-US" dirty="0" err="1" smtClean="0"/>
              <a:t>praksi</a:t>
            </a:r>
            <a:r>
              <a:rPr lang="en-US" dirty="0" smtClean="0"/>
              <a:t> do 8PB</a:t>
            </a:r>
            <a:r>
              <a:rPr lang="sr-Latn-RS" dirty="0" smtClean="0"/>
              <a:t>)</a:t>
            </a:r>
            <a:endParaRPr lang="en-US" dirty="0"/>
          </a:p>
          <a:p>
            <a:pPr lvl="1"/>
            <a:r>
              <a:rPr lang="en-US" dirty="0" err="1"/>
              <a:t>maksimalna</a:t>
            </a:r>
            <a:r>
              <a:rPr lang="en-US" dirty="0"/>
              <a:t> </a:t>
            </a:r>
            <a:r>
              <a:rPr lang="en-US" dirty="0" err="1"/>
              <a:t>veli</a:t>
            </a:r>
            <a:r>
              <a:rPr lang="sr-Latn-RS" dirty="0"/>
              <a:t>čina fajla</a:t>
            </a:r>
            <a:r>
              <a:rPr lang="sr-Latn-RS" dirty="0" smtClean="0"/>
              <a:t>:</a:t>
            </a:r>
            <a:r>
              <a:rPr lang="sr-Latn-RS" dirty="0"/>
              <a:t> nema </a:t>
            </a:r>
            <a:r>
              <a:rPr lang="sr-Latn-RS" dirty="0" smtClean="0"/>
              <a:t>ograničenja  (</a:t>
            </a:r>
            <a:r>
              <a:rPr lang="en-US" dirty="0" smtClean="0"/>
              <a:t>u </a:t>
            </a:r>
            <a:r>
              <a:rPr lang="en-US" dirty="0" err="1"/>
              <a:t>praksi</a:t>
            </a:r>
            <a:r>
              <a:rPr lang="en-US" dirty="0"/>
              <a:t> do </a:t>
            </a:r>
            <a:r>
              <a:rPr lang="en-US" dirty="0" smtClean="0"/>
              <a:t>8PB</a:t>
            </a:r>
            <a:r>
              <a:rPr lang="sr-Latn-RS" dirty="0"/>
              <a:t>)</a:t>
            </a:r>
            <a:r>
              <a:rPr lang="en-US" dirty="0" smtClean="0"/>
              <a:t> </a:t>
            </a:r>
          </a:p>
          <a:p>
            <a:pPr lvl="1"/>
            <a:r>
              <a:rPr lang="sr-Latn-RS" dirty="0" smtClean="0"/>
              <a:t>klaster:</a:t>
            </a:r>
            <a:r>
              <a:rPr lang="en-US" dirty="0" smtClean="0"/>
              <a:t> do 2MB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0000" lnSpcReduction="20000"/>
          </a:bodyPr>
          <a:lstStyle/>
          <a:p>
            <a:fld id="{49F83D39-FACF-43C7-9C4E-3C002A13A54D}" type="slidenum">
              <a:rPr lang="en-US" smtClean="0"/>
              <a:pPr/>
              <a:t>15</a:t>
            </a:fld>
            <a:r>
              <a:rPr lang="en-US" smtClean="0"/>
              <a:t>/17</a:t>
            </a:r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8056" y="3131839"/>
            <a:ext cx="2536385" cy="735909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789070" y="3400426"/>
            <a:ext cx="1035844" cy="114300"/>
          </a:xfrm>
          <a:prstGeom prst="rect">
            <a:avLst/>
          </a:prstGeom>
          <a:noFill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8310563" y="2807496"/>
            <a:ext cx="57151" cy="592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891201" y="2582045"/>
            <a:ext cx="108876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1" dirty="0" err="1">
                <a:latin typeface="Calibri (Body)"/>
              </a:rPr>
              <a:t>Nove</a:t>
            </a:r>
            <a:r>
              <a:rPr lang="en-US" sz="1351" dirty="0">
                <a:latin typeface="Calibri (Body)"/>
              </a:rPr>
              <a:t> </a:t>
            </a:r>
            <a:r>
              <a:rPr lang="en-US" sz="1351" dirty="0" err="1">
                <a:latin typeface="Calibri (Body)"/>
              </a:rPr>
              <a:t>opcije</a:t>
            </a:r>
            <a:endParaRPr lang="en-US" sz="1351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3790104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Struktura</a:t>
            </a:r>
            <a:r>
              <a:rPr lang="en-US" dirty="0"/>
              <a:t> NTFS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1691322"/>
            <a:ext cx="8595360" cy="4351337"/>
          </a:xfrm>
        </p:spPr>
        <p:txBody>
          <a:bodyPr>
            <a:normAutofit lnSpcReduction="10000"/>
          </a:bodyPr>
          <a:lstStyle/>
          <a:p>
            <a:r>
              <a:rPr lang="sr-Latn-RS" b="1" dirty="0" smtClean="0"/>
              <a:t>Partition Boot Sector </a:t>
            </a:r>
            <a:r>
              <a:rPr lang="en-US" dirty="0" smtClean="0"/>
              <a:t>– </a:t>
            </a:r>
            <a:r>
              <a:rPr lang="en-US" dirty="0" err="1" smtClean="0"/>
              <a:t>sli</a:t>
            </a:r>
            <a:r>
              <a:rPr lang="sr-Latn-RS" dirty="0" smtClean="0"/>
              <a:t>čno kao FAT.</a:t>
            </a:r>
          </a:p>
          <a:p>
            <a:endParaRPr lang="sr-Latn-RS" b="1" dirty="0" smtClean="0"/>
          </a:p>
          <a:p>
            <a:r>
              <a:rPr lang="sr-Latn-RS" b="1" dirty="0" smtClean="0"/>
              <a:t>Master File Table</a:t>
            </a:r>
          </a:p>
          <a:p>
            <a:pPr lvl="1"/>
            <a:r>
              <a:rPr lang="sr-Latn-RS" dirty="0" smtClean="0"/>
              <a:t>sastoji se od zapisa za svaki fajl</a:t>
            </a:r>
          </a:p>
          <a:p>
            <a:pPr lvl="1"/>
            <a:r>
              <a:rPr lang="sr-Latn-RS" dirty="0" smtClean="0"/>
              <a:t>vodi računa o tome kad je koji fajl promenjen</a:t>
            </a:r>
          </a:p>
          <a:p>
            <a:pPr lvl="1"/>
            <a:r>
              <a:rPr lang="sr-Latn-RS" dirty="0" smtClean="0"/>
              <a:t>čak i ako se obriše fajl,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sr-Latn-RS" dirty="0" smtClean="0"/>
              <a:t>postojaće zapisnik da je postojao</a:t>
            </a:r>
          </a:p>
          <a:p>
            <a:pPr lvl="1"/>
            <a:r>
              <a:rPr lang="sr-Latn-RS" dirty="0" smtClean="0"/>
              <a:t>bitmap </a:t>
            </a:r>
            <a:endParaRPr lang="en-US" dirty="0"/>
          </a:p>
          <a:p>
            <a:pPr lvl="2"/>
            <a:r>
              <a:rPr lang="sr-Latn-RS" dirty="0" smtClean="0"/>
              <a:t>za vođenje računa o slobodnim klasterima</a:t>
            </a:r>
            <a:endParaRPr lang="sr-Latn-RS" dirty="0"/>
          </a:p>
          <a:p>
            <a:endParaRPr lang="sr-Latn-RS" b="1" dirty="0" smtClean="0"/>
          </a:p>
          <a:p>
            <a:r>
              <a:rPr lang="sr-Latn-RS" b="1" dirty="0" smtClean="0"/>
              <a:t>System Files</a:t>
            </a:r>
          </a:p>
          <a:p>
            <a:pPr lvl="1"/>
            <a:r>
              <a:rPr lang="sr-Latn-RS" dirty="0" smtClean="0"/>
              <a:t>sistemski fajlovi koji su sakriveni od korisnika</a:t>
            </a:r>
          </a:p>
          <a:p>
            <a:pPr lvl="1"/>
            <a:r>
              <a:rPr lang="sr-Latn-RS" dirty="0" smtClean="0"/>
              <a:t>korisi ih sam fajl sistem</a:t>
            </a:r>
          </a:p>
          <a:p>
            <a:pPr lvl="1"/>
            <a:endParaRPr lang="sr-Latn-RS" dirty="0" smtClean="0"/>
          </a:p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0000" lnSpcReduction="20000"/>
          </a:bodyPr>
          <a:lstStyle/>
          <a:p>
            <a:fld id="{49F83D39-FACF-43C7-9C4E-3C002A13A54D}" type="slidenum">
              <a:rPr lang="en-US" smtClean="0"/>
              <a:pPr/>
              <a:t>16</a:t>
            </a:fld>
            <a:r>
              <a:rPr lang="en-US" smtClean="0"/>
              <a:t>/17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192137" y="2190055"/>
            <a:ext cx="2057400" cy="243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Partition Boot Sector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92137" y="2433060"/>
            <a:ext cx="2057400" cy="34611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Master File 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192137" y="3052764"/>
            <a:ext cx="2057400" cy="20934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Files Area</a:t>
            </a:r>
          </a:p>
        </p:txBody>
      </p:sp>
      <p:sp>
        <p:nvSpPr>
          <p:cNvPr id="8" name="Rectangle 7"/>
          <p:cNvSpPr/>
          <p:nvPr/>
        </p:nvSpPr>
        <p:spPr>
          <a:xfrm>
            <a:off x="7192137" y="2779179"/>
            <a:ext cx="2057400" cy="27358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System Files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191280" y="5146240"/>
            <a:ext cx="2057400" cy="34611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Master File Table Copy</a:t>
            </a:r>
          </a:p>
        </p:txBody>
      </p:sp>
    </p:spTree>
    <p:extLst>
      <p:ext uri="{BB962C8B-B14F-4D97-AF65-F5344CB8AC3E}">
        <p14:creationId xmlns:p14="http://schemas.microsoft.com/office/powerpoint/2010/main" val="745524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Da ponovimo...</a:t>
            </a:r>
            <a:endParaRPr lang="en-US" dirty="0"/>
          </a:p>
        </p:txBody>
      </p:sp>
      <p:sp>
        <p:nvSpPr>
          <p:cNvPr id="131" name="Content Placeholder 13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0000" lnSpcReduction="20000"/>
          </a:bodyPr>
          <a:lstStyle/>
          <a:p>
            <a:fld id="{49F83D39-FACF-43C7-9C4E-3C002A13A54D}" type="slidenum">
              <a:rPr lang="en-US" smtClean="0"/>
              <a:pPr/>
              <a:t>17</a:t>
            </a:fld>
            <a:r>
              <a:rPr lang="en-US" smtClean="0"/>
              <a:t>/17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7045545" y="3333806"/>
            <a:ext cx="1871663" cy="1778199"/>
            <a:chOff x="4625975" y="4156870"/>
            <a:chExt cx="2495550" cy="2370930"/>
          </a:xfrm>
        </p:grpSpPr>
        <p:sp>
          <p:nvSpPr>
            <p:cNvPr id="12" name="Flowchart: Magnetic Disk 11"/>
            <p:cNvSpPr/>
            <p:nvPr/>
          </p:nvSpPr>
          <p:spPr>
            <a:xfrm>
              <a:off x="4625975" y="4156870"/>
              <a:ext cx="2495550" cy="2370930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>
                <a:latin typeface="Calibri (Body)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567883" y="5039915"/>
              <a:ext cx="321469" cy="321469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D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285581" y="5037931"/>
              <a:ext cx="321469" cy="321469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T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713015" y="5037931"/>
              <a:ext cx="321469" cy="321469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\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863060" y="5037931"/>
              <a:ext cx="321469" cy="3214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B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140449" y="5046266"/>
              <a:ext cx="321469" cy="321469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D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564310" y="5498864"/>
              <a:ext cx="321469" cy="32146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9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858145" y="5947966"/>
              <a:ext cx="321469" cy="32146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A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140449" y="5498863"/>
              <a:ext cx="321469" cy="321469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8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713015" y="5492515"/>
              <a:ext cx="321469" cy="32146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7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285580" y="5494500"/>
              <a:ext cx="321469" cy="321469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6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858146" y="5501245"/>
              <a:ext cx="321469" cy="32146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5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5250259" y="6179347"/>
              <a:ext cx="61115" cy="6111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>
                <a:latin typeface="Calibri (Body)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5381622" y="6179347"/>
              <a:ext cx="61115" cy="6111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>
                <a:latin typeface="Calibri (Body)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5516960" y="6179346"/>
              <a:ext cx="61115" cy="6111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>
                <a:latin typeface="Calibri (Body)"/>
              </a:endParaRPr>
            </a:p>
          </p:txBody>
        </p:sp>
      </p:grpSp>
      <p:sp>
        <p:nvSpPr>
          <p:cNvPr id="32" name="Rectangle 31"/>
          <p:cNvSpPr/>
          <p:nvPr/>
        </p:nvSpPr>
        <p:spPr>
          <a:xfrm>
            <a:off x="2470404" y="3400427"/>
            <a:ext cx="1828800" cy="16449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 (Body)"/>
              </a:rPr>
              <a:t>CPU</a:t>
            </a:r>
            <a:endParaRPr lang="en-US" dirty="0">
              <a:latin typeface="Calibri (Body)"/>
            </a:endParaRPr>
          </a:p>
        </p:txBody>
      </p:sp>
      <p:grpSp>
        <p:nvGrpSpPr>
          <p:cNvPr id="54" name="Group 53"/>
          <p:cNvGrpSpPr/>
          <p:nvPr/>
        </p:nvGrpSpPr>
        <p:grpSpPr>
          <a:xfrm>
            <a:off x="4643673" y="3400425"/>
            <a:ext cx="2057400" cy="683976"/>
            <a:chOff x="3119673" y="3400425"/>
            <a:chExt cx="2057400" cy="683976"/>
          </a:xfrm>
        </p:grpSpPr>
        <p:sp>
          <p:nvSpPr>
            <p:cNvPr id="37" name="Rectangle 36"/>
            <p:cNvSpPr/>
            <p:nvPr/>
          </p:nvSpPr>
          <p:spPr>
            <a:xfrm>
              <a:off x="3119673" y="3400425"/>
              <a:ext cx="2057400" cy="68397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351" dirty="0">
                  <a:latin typeface="Calibri (Body)"/>
                </a:rPr>
                <a:t>Boot Block</a:t>
              </a:r>
              <a:endParaRPr lang="en-US" sz="1351" dirty="0">
                <a:latin typeface="Calibri (Body)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119673" y="3776326"/>
              <a:ext cx="2057400" cy="308074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Bootstrap</a:t>
              </a:r>
              <a:endParaRPr lang="en-US" sz="1351" dirty="0">
                <a:latin typeface="Calibri (Body)"/>
              </a:endParaRPr>
            </a:p>
          </p:txBody>
        </p:sp>
      </p:grpSp>
      <p:cxnSp>
        <p:nvCxnSpPr>
          <p:cNvPr id="46" name="Straight Connector 45"/>
          <p:cNvCxnSpPr>
            <a:stCxn id="32" idx="3"/>
            <a:endCxn id="12" idx="2"/>
          </p:cNvCxnSpPr>
          <p:nvPr/>
        </p:nvCxnSpPr>
        <p:spPr>
          <a:xfrm flipV="1">
            <a:off x="4299204" y="4222906"/>
            <a:ext cx="2746339" cy="1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5" name="Group 54"/>
          <p:cNvGrpSpPr/>
          <p:nvPr/>
        </p:nvGrpSpPr>
        <p:grpSpPr>
          <a:xfrm>
            <a:off x="4643673" y="3400425"/>
            <a:ext cx="2057400" cy="683976"/>
            <a:chOff x="3119673" y="3400425"/>
            <a:chExt cx="2057400" cy="683976"/>
          </a:xfrm>
        </p:grpSpPr>
        <p:sp>
          <p:nvSpPr>
            <p:cNvPr id="56" name="Rectangle 55"/>
            <p:cNvSpPr/>
            <p:nvPr/>
          </p:nvSpPr>
          <p:spPr>
            <a:xfrm>
              <a:off x="3119673" y="3400425"/>
              <a:ext cx="2057400" cy="68397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351" dirty="0">
                  <a:latin typeface="Calibri (Body)"/>
                </a:rPr>
                <a:t>Table</a:t>
              </a:r>
              <a:endParaRPr lang="en-US" sz="1351" dirty="0">
                <a:latin typeface="Calibri (Body)"/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3119673" y="3776326"/>
              <a:ext cx="2057400" cy="218275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Entry</a:t>
              </a:r>
              <a:endParaRPr lang="en-US" sz="1351" dirty="0">
                <a:latin typeface="Calibri (Body)"/>
              </a:endParaRPr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4643673" y="3400424"/>
            <a:ext cx="2057400" cy="683976"/>
            <a:chOff x="3119673" y="3400425"/>
            <a:chExt cx="2057400" cy="683976"/>
          </a:xfrm>
        </p:grpSpPr>
        <p:sp>
          <p:nvSpPr>
            <p:cNvPr id="90" name="Rectangle 89"/>
            <p:cNvSpPr/>
            <p:nvPr/>
          </p:nvSpPr>
          <p:spPr>
            <a:xfrm>
              <a:off x="3119673" y="3400425"/>
              <a:ext cx="2057400" cy="683976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351" dirty="0">
                  <a:latin typeface="Calibri (Body)"/>
                </a:rPr>
                <a:t>\</a:t>
              </a:r>
              <a:endParaRPr lang="en-US" sz="1351" dirty="0">
                <a:latin typeface="Calibri (Body)"/>
              </a:endParaRPr>
            </a:p>
          </p:txBody>
        </p:sp>
        <p:sp>
          <p:nvSpPr>
            <p:cNvPr id="91" name="Rectangle 90"/>
            <p:cNvSpPr/>
            <p:nvPr/>
          </p:nvSpPr>
          <p:spPr>
            <a:xfrm>
              <a:off x="3119673" y="3776326"/>
              <a:ext cx="2057400" cy="218275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FCB</a:t>
              </a:r>
              <a:endParaRPr lang="en-US" sz="1351" dirty="0">
                <a:latin typeface="Calibri (Body)"/>
              </a:endParaRPr>
            </a:p>
          </p:txBody>
        </p:sp>
      </p:grpSp>
      <p:sp>
        <p:nvSpPr>
          <p:cNvPr id="95" name="Oval 94"/>
          <p:cNvSpPr/>
          <p:nvPr/>
        </p:nvSpPr>
        <p:spPr>
          <a:xfrm>
            <a:off x="7811710" y="1467949"/>
            <a:ext cx="428625" cy="42862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\</a:t>
            </a:r>
          </a:p>
        </p:txBody>
      </p:sp>
      <p:sp>
        <p:nvSpPr>
          <p:cNvPr id="97" name="Oval 96"/>
          <p:cNvSpPr/>
          <p:nvPr/>
        </p:nvSpPr>
        <p:spPr>
          <a:xfrm>
            <a:off x="8526085" y="2203756"/>
            <a:ext cx="428625" cy="42862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f</a:t>
            </a:r>
            <a:endParaRPr lang="en-US" sz="1351" dirty="0">
              <a:latin typeface="Calibri (Body)"/>
            </a:endParaRPr>
          </a:p>
        </p:txBody>
      </p:sp>
      <p:cxnSp>
        <p:nvCxnSpPr>
          <p:cNvPr id="98" name="Straight Connector 97"/>
          <p:cNvCxnSpPr>
            <a:stCxn id="95" idx="5"/>
            <a:endCxn id="97" idx="1"/>
          </p:cNvCxnSpPr>
          <p:nvPr/>
        </p:nvCxnSpPr>
        <p:spPr>
          <a:xfrm>
            <a:off x="8177564" y="1833801"/>
            <a:ext cx="411291" cy="4327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stCxn id="95" idx="3"/>
          </p:cNvCxnSpPr>
          <p:nvPr/>
        </p:nvCxnSpPr>
        <p:spPr>
          <a:xfrm flipH="1">
            <a:off x="7484619" y="1833801"/>
            <a:ext cx="389860" cy="4327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7262932" y="2088173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 (Body)"/>
              </a:rPr>
              <a:t>...</a:t>
            </a:r>
            <a:endParaRPr lang="en-US" dirty="0">
              <a:latin typeface="Calibri (Body)"/>
            </a:endParaRPr>
          </a:p>
        </p:txBody>
      </p:sp>
      <p:grpSp>
        <p:nvGrpSpPr>
          <p:cNvPr id="106" name="Group 105"/>
          <p:cNvGrpSpPr/>
          <p:nvPr/>
        </p:nvGrpSpPr>
        <p:grpSpPr>
          <a:xfrm>
            <a:off x="2356104" y="5183887"/>
            <a:ext cx="2057400" cy="683976"/>
            <a:chOff x="3119673" y="3400425"/>
            <a:chExt cx="2057400" cy="683976"/>
          </a:xfrm>
        </p:grpSpPr>
        <p:sp>
          <p:nvSpPr>
            <p:cNvPr id="107" name="Rectangle 106"/>
            <p:cNvSpPr/>
            <p:nvPr/>
          </p:nvSpPr>
          <p:spPr>
            <a:xfrm>
              <a:off x="3119673" y="3400425"/>
              <a:ext cx="2057400" cy="68397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351" dirty="0">
                  <a:latin typeface="Calibri (Body)"/>
                </a:rPr>
                <a:t>Table</a:t>
              </a:r>
              <a:endParaRPr lang="en-US" sz="1351" dirty="0">
                <a:latin typeface="Calibri (Body)"/>
              </a:endParaRP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3119673" y="3776326"/>
              <a:ext cx="2057400" cy="218275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Entry</a:t>
              </a:r>
              <a:endParaRPr lang="en-US" sz="1351" dirty="0">
                <a:latin typeface="Calibri (Body)"/>
              </a:endParaRPr>
            </a:p>
          </p:txBody>
        </p:sp>
      </p:grpSp>
      <p:grpSp>
        <p:nvGrpSpPr>
          <p:cNvPr id="109" name="Group 108"/>
          <p:cNvGrpSpPr/>
          <p:nvPr/>
        </p:nvGrpSpPr>
        <p:grpSpPr>
          <a:xfrm>
            <a:off x="2356104" y="5934483"/>
            <a:ext cx="2057400" cy="683976"/>
            <a:chOff x="3119673" y="3400425"/>
            <a:chExt cx="2057400" cy="683976"/>
          </a:xfrm>
        </p:grpSpPr>
        <p:sp>
          <p:nvSpPr>
            <p:cNvPr id="110" name="Rectangle 109"/>
            <p:cNvSpPr/>
            <p:nvPr/>
          </p:nvSpPr>
          <p:spPr>
            <a:xfrm>
              <a:off x="3119673" y="3400425"/>
              <a:ext cx="2057400" cy="683976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351" dirty="0">
                  <a:latin typeface="Calibri (Body)"/>
                </a:rPr>
                <a:t>\</a:t>
              </a:r>
              <a:endParaRPr lang="en-US" sz="1351" dirty="0">
                <a:latin typeface="Calibri (Body)"/>
              </a:endParaRPr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3119673" y="3776326"/>
              <a:ext cx="2057400" cy="218275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1" dirty="0">
                  <a:latin typeface="Calibri (Body)"/>
                </a:rPr>
                <a:t>FCB</a:t>
              </a:r>
              <a:endParaRPr lang="en-US" sz="1351" dirty="0">
                <a:latin typeface="Calibri (Body)"/>
              </a:endParaRPr>
            </a:p>
          </p:txBody>
        </p:sp>
      </p:grpSp>
      <p:cxnSp>
        <p:nvCxnSpPr>
          <p:cNvPr id="113" name="Straight Arrow Connector 112"/>
          <p:cNvCxnSpPr>
            <a:stCxn id="107" idx="3"/>
            <a:endCxn id="22" idx="1"/>
          </p:cNvCxnSpPr>
          <p:nvPr/>
        </p:nvCxnSpPr>
        <p:spPr>
          <a:xfrm flipV="1">
            <a:off x="4413505" y="4457579"/>
            <a:ext cx="3126743" cy="1068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Rectangle 116"/>
          <p:cNvSpPr/>
          <p:nvPr/>
        </p:nvSpPr>
        <p:spPr>
          <a:xfrm>
            <a:off x="4637717" y="3400424"/>
            <a:ext cx="2057400" cy="68397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6</a:t>
            </a:r>
            <a:endParaRPr lang="en-US" sz="1351" dirty="0">
              <a:latin typeface="Calibri (Body)"/>
            </a:endParaRPr>
          </a:p>
        </p:txBody>
      </p:sp>
      <p:cxnSp>
        <p:nvCxnSpPr>
          <p:cNvPr id="118" name="Straight Arrow Connector 117"/>
          <p:cNvCxnSpPr>
            <a:stCxn id="107" idx="3"/>
            <a:endCxn id="20" idx="1"/>
          </p:cNvCxnSpPr>
          <p:nvPr/>
        </p:nvCxnSpPr>
        <p:spPr>
          <a:xfrm flipV="1">
            <a:off x="4413505" y="4460851"/>
            <a:ext cx="3767895" cy="1065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Rectangle 120"/>
          <p:cNvSpPr/>
          <p:nvPr/>
        </p:nvSpPr>
        <p:spPr>
          <a:xfrm>
            <a:off x="4637717" y="3401973"/>
            <a:ext cx="2057400" cy="68397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latin typeface="Calibri (Body)"/>
              </a:rPr>
              <a:t>8</a:t>
            </a:r>
            <a:endParaRPr lang="en-US" sz="1351" dirty="0">
              <a:latin typeface="Calibri (Body)"/>
            </a:endParaRPr>
          </a:p>
        </p:txBody>
      </p:sp>
      <p:cxnSp>
        <p:nvCxnSpPr>
          <p:cNvPr id="125" name="Straight Arrow Connector 124"/>
          <p:cNvCxnSpPr>
            <a:stCxn id="32" idx="0"/>
            <a:endCxn id="126" idx="2"/>
          </p:cNvCxnSpPr>
          <p:nvPr/>
        </p:nvCxnSpPr>
        <p:spPr>
          <a:xfrm flipV="1">
            <a:off x="3384806" y="2835336"/>
            <a:ext cx="1961767" cy="565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6" name="Action Button: Document 125">
            <a:hlinkClick r:id="" action="ppaction://noaction" highlightClick="1"/>
          </p:cNvPr>
          <p:cNvSpPr/>
          <p:nvPr/>
        </p:nvSpPr>
        <p:spPr>
          <a:xfrm>
            <a:off x="5346571" y="2577948"/>
            <a:ext cx="651604" cy="514777"/>
          </a:xfrm>
          <a:prstGeom prst="actionButtonDocumen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4" name="Picture 1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953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25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25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25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 animBg="1"/>
      <p:bldP spid="117" grpId="1" animBg="1"/>
      <p:bldP spid="121" grpId="0" animBg="1"/>
      <p:bldP spid="121" grpId="1" animBg="1"/>
      <p:bldP spid="126" grpId="0" animBg="1"/>
    </p:bldLst>
  </p:timing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590</TotalTime>
  <Words>1093</Words>
  <Application>Microsoft Office PowerPoint</Application>
  <PresentationFormat>Widescreen</PresentationFormat>
  <Paragraphs>425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(Body)</vt:lpstr>
      <vt:lpstr>Century Schoolbook</vt:lpstr>
      <vt:lpstr>Wingdings</vt:lpstr>
      <vt:lpstr>Wingdings 2</vt:lpstr>
      <vt:lpstr>View</vt:lpstr>
      <vt:lpstr>Fajl sistemi na operativnom sistemu Windows</vt:lpstr>
      <vt:lpstr>Sadržaj</vt:lpstr>
      <vt:lpstr>Uvod - Šta je operativni sistem?</vt:lpstr>
      <vt:lpstr>Uvod - Šta je fajl?</vt:lpstr>
      <vt:lpstr>Uvod - Šta je direktorijum i FCB?</vt:lpstr>
      <vt:lpstr>PowerPoint Presentation</vt:lpstr>
      <vt:lpstr>Šta je fajl sistem?</vt:lpstr>
      <vt:lpstr>Istorija fajl sistema na Windowsu </vt:lpstr>
      <vt:lpstr>Metode alokacije fajla</vt:lpstr>
      <vt:lpstr>PowerPoint Presentation</vt:lpstr>
      <vt:lpstr>FAT - File Allocation Table</vt:lpstr>
      <vt:lpstr>FAT 12/16</vt:lpstr>
      <vt:lpstr>FAT 32</vt:lpstr>
      <vt:lpstr>exFAT</vt:lpstr>
      <vt:lpstr>NTFS</vt:lpstr>
      <vt:lpstr>Struktura NTFS</vt:lpstr>
      <vt:lpstr>Da ponovimo...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Fajl sistemi na operativnom sistemu Windows</dc:title>
  <dc:creator>Mateja Bogdanovic</dc:creator>
  <cp:lastModifiedBy>Mateja Bogdanovic</cp:lastModifiedBy>
  <cp:revision>777</cp:revision>
  <dcterms:created xsi:type="dcterms:W3CDTF">2024-12-05T12:00:46Z</dcterms:created>
  <dcterms:modified xsi:type="dcterms:W3CDTF">2025-07-26T13:08:18Z</dcterms:modified>
</cp:coreProperties>
</file>